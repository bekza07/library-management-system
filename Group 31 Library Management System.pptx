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5" r:id="rId2"/>
    <p:sldId id="274" r:id="rId3"/>
    <p:sldId id="270" r:id="rId4"/>
    <p:sldId id="276" r:id="rId5"/>
    <p:sldId id="267" r:id="rId6"/>
    <p:sldId id="271" r:id="rId7"/>
    <p:sldId id="272" r:id="rId8"/>
    <p:sldId id="273" r:id="rId9"/>
    <p:sldId id="269" r:id="rId10"/>
    <p:sldId id="277" r:id="rId11"/>
    <p:sldId id="278" r:id="rId12"/>
    <p:sldId id="279" r:id="rId13"/>
    <p:sldId id="264" r:id="rId14"/>
    <p:sldId id="265" r:id="rId15"/>
    <p:sldId id="266" r:id="rId16"/>
    <p:sldId id="258" r:id="rId17"/>
    <p:sldId id="259" r:id="rId18"/>
    <p:sldId id="260" r:id="rId19"/>
    <p:sldId id="261" r:id="rId20"/>
    <p:sldId id="262" r:id="rId21"/>
    <p:sldId id="263"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p:scale>
          <a:sx n="75" d="100"/>
          <a:sy n="75" d="100"/>
        </p:scale>
        <p:origin x="835"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405C2-0D90-4538-AB54-5D9BD9B34557}" type="datetimeFigureOut">
              <a:rPr lang="en-ZA" smtClean="0"/>
              <a:t>2026/10/29</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54D42-7306-4132-B01F-4002CF88118B}" type="slidenum">
              <a:rPr lang="en-ZA" smtClean="0"/>
              <a:t>‹#›</a:t>
            </a:fld>
            <a:endParaRPr lang="en-ZA"/>
          </a:p>
        </p:txBody>
      </p:sp>
    </p:spTree>
    <p:extLst>
      <p:ext uri="{BB962C8B-B14F-4D97-AF65-F5344CB8AC3E}">
        <p14:creationId xmlns:p14="http://schemas.microsoft.com/office/powerpoint/2010/main" val="1371850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63754D42-7306-4132-B01F-4002CF88118B}" type="slidenum">
              <a:rPr lang="en-ZA" smtClean="0"/>
              <a:t>21</a:t>
            </a:fld>
            <a:endParaRPr lang="en-ZA"/>
          </a:p>
        </p:txBody>
      </p:sp>
    </p:spTree>
    <p:extLst>
      <p:ext uri="{BB962C8B-B14F-4D97-AF65-F5344CB8AC3E}">
        <p14:creationId xmlns:p14="http://schemas.microsoft.com/office/powerpoint/2010/main" val="782191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AB924FE8-2CE9-4A0D-89FA-43262A6295DF}" type="datetimeFigureOut">
              <a:rPr lang="en-ZA" smtClean="0"/>
              <a:t>2026/10/29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3021191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AB924FE8-2CE9-4A0D-89FA-43262A6295DF}" type="datetimeFigureOut">
              <a:rPr lang="en-ZA" smtClean="0"/>
              <a:t>2026/10/29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3316160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B924FE8-2CE9-4A0D-89FA-43262A6295DF}" type="datetimeFigureOut">
              <a:rPr lang="en-ZA" smtClean="0"/>
              <a:t>2026/10/29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1269177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AB924FE8-2CE9-4A0D-89FA-43262A6295DF}" type="datetimeFigureOut">
              <a:rPr lang="en-ZA" smtClean="0"/>
              <a:t>2026/10/29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1626921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AB924FE8-2CE9-4A0D-89FA-43262A6295DF}" type="datetimeFigureOut">
              <a:rPr lang="en-ZA" smtClean="0"/>
              <a:t>2026/10/29</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1675687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AB924FE8-2CE9-4A0D-89FA-43262A6295DF}" type="datetimeFigureOut">
              <a:rPr lang="en-ZA" smtClean="0"/>
              <a:t>2026/10/29</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3654790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924FE8-2CE9-4A0D-89FA-43262A6295DF}" type="datetimeFigureOut">
              <a:rPr lang="en-ZA" smtClean="0"/>
              <a:t>2026/10/29</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4090381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924FE8-2CE9-4A0D-89FA-43262A6295DF}" type="datetimeFigureOut">
              <a:rPr lang="en-ZA" smtClean="0"/>
              <a:t>2026/10/29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248178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B924FE8-2CE9-4A0D-89FA-43262A6295DF}" type="datetimeFigureOut">
              <a:rPr lang="en-ZA" smtClean="0"/>
              <a:t>2026/10/29</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2170397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AB924FE8-2CE9-4A0D-89FA-43262A6295DF}" type="datetimeFigureOut">
              <a:rPr lang="en-ZA" smtClean="0"/>
              <a:t>2026/10/29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751292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AB924FE8-2CE9-4A0D-89FA-43262A6295DF}" type="datetimeFigureOut">
              <a:rPr lang="en-ZA" smtClean="0"/>
              <a:t>2026/10/29</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7E764B65-2B93-4B3F-8CDE-75F5D917C6CD}" type="slidenum">
              <a:rPr lang="en-ZA" smtClean="0"/>
              <a:t>‹#›</a:t>
            </a:fld>
            <a:endParaRPr lang="en-ZA"/>
          </a:p>
        </p:txBody>
      </p:sp>
    </p:spTree>
    <p:extLst>
      <p:ext uri="{BB962C8B-B14F-4D97-AF65-F5344CB8AC3E}">
        <p14:creationId xmlns:p14="http://schemas.microsoft.com/office/powerpoint/2010/main" val="1752446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924FE8-2CE9-4A0D-89FA-43262A6295DF}" type="datetimeFigureOut">
              <a:rPr lang="en-ZA" smtClean="0"/>
              <a:t>2026/10/29</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764B65-2B93-4B3F-8CDE-75F5D917C6CD}" type="slidenum">
              <a:rPr lang="en-ZA" smtClean="0"/>
              <a:t>‹#›</a:t>
            </a:fld>
            <a:endParaRPr lang="en-ZA"/>
          </a:p>
        </p:txBody>
      </p:sp>
    </p:spTree>
    <p:extLst>
      <p:ext uri="{BB962C8B-B14F-4D97-AF65-F5344CB8AC3E}">
        <p14:creationId xmlns:p14="http://schemas.microsoft.com/office/powerpoint/2010/main" val="910229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38697" y="129350"/>
            <a:ext cx="6096000" cy="2807820"/>
          </a:xfrm>
          <a:prstGeom prst="rect">
            <a:avLst/>
          </a:prstGeom>
        </p:spPr>
        <p:txBody>
          <a:bodyPr>
            <a:spAutoFit/>
          </a:bodyPr>
          <a:lstStyle/>
          <a:p>
            <a:pPr algn="ctr">
              <a:lnSpc>
                <a:spcPct val="107000"/>
              </a:lnSpc>
              <a:spcAft>
                <a:spcPts val="800"/>
              </a:spcAft>
              <a:tabLst>
                <a:tab pos="2026920" algn="l"/>
              </a:tabLst>
            </a:pPr>
            <a:r>
              <a:rPr lang="en-ZA" sz="2800" b="1" dirty="0" smtClean="0">
                <a:effectLst/>
                <a:latin typeface="Calibri" panose="020F0502020204030204" pitchFamily="34" charset="0"/>
                <a:ea typeface="Calibri" panose="020F0502020204030204" pitchFamily="34" charset="0"/>
                <a:cs typeface="Times New Roman" panose="02020603050405020304" pitchFamily="18" charset="0"/>
              </a:rPr>
              <a:t>INFORMATION SYSTEMS 1.2 PROJECT</a:t>
            </a:r>
            <a:endParaRPr lang="en-ZA"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tabLst>
                <a:tab pos="2026920" algn="l"/>
              </a:tabLst>
            </a:pPr>
            <a:r>
              <a:rPr lang="en-ZA" sz="2800" b="1" dirty="0" smtClean="0">
                <a:effectLst/>
                <a:latin typeface="Calibri" panose="020F0502020204030204" pitchFamily="34" charset="0"/>
                <a:ea typeface="Calibri" panose="020F0502020204030204" pitchFamily="34" charset="0"/>
                <a:cs typeface="Times New Roman" panose="02020603050405020304" pitchFamily="18" charset="0"/>
              </a:rPr>
              <a:t>AIITY1A</a:t>
            </a:r>
            <a:endParaRPr lang="en-ZA"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tabLst>
                <a:tab pos="2026920" algn="l"/>
              </a:tabLst>
            </a:pPr>
            <a:r>
              <a:rPr lang="en-ZA" sz="2800" b="1" dirty="0" smtClean="0">
                <a:effectLst/>
                <a:latin typeface="Calibri" panose="020F0502020204030204" pitchFamily="34" charset="0"/>
                <a:ea typeface="Calibri" panose="020F0502020204030204" pitchFamily="34" charset="0"/>
                <a:cs typeface="Times New Roman" panose="02020603050405020304" pitchFamily="18" charset="0"/>
              </a:rPr>
              <a:t>LIBRARY MANAGEMENT SYSTEM</a:t>
            </a:r>
            <a:endParaRPr lang="en-ZA" sz="28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tabLst>
                <a:tab pos="2026920" algn="l"/>
              </a:tabLst>
            </a:pPr>
            <a:r>
              <a:rPr lang="en-ZA" sz="2800" b="1" dirty="0" smtClean="0">
                <a:effectLst/>
                <a:latin typeface="Calibri" panose="020F0502020204030204" pitchFamily="34" charset="0"/>
                <a:ea typeface="Calibri" panose="020F0502020204030204" pitchFamily="34" charset="0"/>
                <a:cs typeface="Times New Roman" panose="02020603050405020304" pitchFamily="18" charset="0"/>
              </a:rPr>
              <a:t>NELLYLYN MOYO</a:t>
            </a:r>
          </a:p>
          <a:p>
            <a:pPr algn="ctr">
              <a:lnSpc>
                <a:spcPct val="107000"/>
              </a:lnSpc>
              <a:spcAft>
                <a:spcPts val="800"/>
              </a:spcAft>
              <a:tabLst>
                <a:tab pos="2026920" algn="l"/>
              </a:tabLst>
            </a:pPr>
            <a:r>
              <a:rPr lang="en-ZA" sz="2800" b="1" dirty="0" smtClean="0">
                <a:latin typeface="Calibri" panose="020F0502020204030204" pitchFamily="34" charset="0"/>
                <a:ea typeface="Calibri" panose="020F0502020204030204" pitchFamily="34" charset="0"/>
                <a:cs typeface="Times New Roman" panose="02020603050405020304" pitchFamily="18" charset="0"/>
              </a:rPr>
              <a:t>GROUP 31</a:t>
            </a:r>
            <a:endParaRPr lang="en-ZA" sz="28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22792340"/>
              </p:ext>
            </p:extLst>
          </p:nvPr>
        </p:nvGraphicFramePr>
        <p:xfrm>
          <a:off x="2356122" y="2937170"/>
          <a:ext cx="6661150" cy="3730625"/>
        </p:xfrm>
        <a:graphic>
          <a:graphicData uri="http://schemas.openxmlformats.org/drawingml/2006/table">
            <a:tbl>
              <a:tblPr firstRow="1" firstCol="1" bandRow="1"/>
              <a:tblGrid>
                <a:gridCol w="2204085"/>
                <a:gridCol w="2724785"/>
                <a:gridCol w="1732280"/>
              </a:tblGrid>
              <a:tr h="412115">
                <a:tc>
                  <a:txBody>
                    <a:bodyPr/>
                    <a:lstStyle/>
                    <a:p>
                      <a:pPr algn="ctr">
                        <a:lnSpc>
                          <a:spcPct val="107000"/>
                        </a:lnSpc>
                        <a:spcAft>
                          <a:spcPts val="0"/>
                        </a:spcAft>
                      </a:pPr>
                      <a:r>
                        <a:rPr lang="en-ZA" sz="1400" b="1" kern="0" dirty="0">
                          <a:effectLst/>
                          <a:latin typeface="Verdana" panose="020B0604030504040204" pitchFamily="34" charset="0"/>
                          <a:ea typeface="Calibri" panose="020F0502020204030204" pitchFamily="34" charset="0"/>
                          <a:cs typeface="Times New Roman" panose="02020603050405020304" pitchFamily="18" charset="0"/>
                        </a:rPr>
                        <a:t>STUDENT NUMBER</a:t>
                      </a:r>
                      <a:endParaRPr lang="en-ZA" sz="1100" kern="100" dirty="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kern="0">
                          <a:effectLst/>
                          <a:latin typeface="Verdana" panose="020B0604030504040204" pitchFamily="34" charset="0"/>
                          <a:ea typeface="Calibri" panose="020F0502020204030204" pitchFamily="34" charset="0"/>
                          <a:cs typeface="Times New Roman" panose="02020603050405020304" pitchFamily="18" charset="0"/>
                        </a:rPr>
                        <a:t>SURNAME AND INITIALS</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kern="0">
                          <a:effectLst/>
                          <a:latin typeface="Verdana" panose="020B0604030504040204" pitchFamily="34" charset="0"/>
                          <a:ea typeface="Calibri" panose="020F0502020204030204" pitchFamily="34" charset="0"/>
                          <a:cs typeface="Times New Roman" panose="02020603050405020304" pitchFamily="18" charset="0"/>
                        </a:rPr>
                        <a:t>SIGNATURE</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370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226059354</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dirty="0">
                          <a:effectLst/>
                          <a:latin typeface="Verdana" panose="020B0604030504040204" pitchFamily="34" charset="0"/>
                          <a:ea typeface="Calibri" panose="020F0502020204030204" pitchFamily="34" charset="0"/>
                          <a:cs typeface="Times New Roman" panose="02020603050405020304" pitchFamily="18" charset="0"/>
                        </a:rPr>
                        <a:t>LEBEKO SURPRISE SHAI</a:t>
                      </a:r>
                      <a:endParaRPr lang="en-ZA" sz="1100" kern="100" dirty="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dirty="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dirty="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225213635</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dirty="0">
                          <a:effectLst/>
                          <a:latin typeface="Verdana" panose="020B0604030504040204" pitchFamily="34" charset="0"/>
                          <a:ea typeface="Calibri" panose="020F0502020204030204" pitchFamily="34" charset="0"/>
                          <a:cs typeface="Times New Roman" panose="02020603050405020304" pitchFamily="18" charset="0"/>
                        </a:rPr>
                        <a:t>AYANDA LETTIE MABASO</a:t>
                      </a:r>
                      <a:endParaRPr lang="en-ZA" sz="1100" kern="100" dirty="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226000377</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BASETSANA KHENSANI MADIBA</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225272619</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NALEDI MARIA MAHLATJI</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226027946</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NJABULO HLELOLWENKOSI MTSHALI</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226011282</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LINDOKUHLE SHAUN NGWENYAMA</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225276701</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MAKHADZI BEYONCE LUDERE MULAUDZI</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2115">
                <a:tc>
                  <a:txBody>
                    <a:bodyPr/>
                    <a:lstStyle/>
                    <a:p>
                      <a:pP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           240182200</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a:effectLst/>
                          <a:latin typeface="Verdana" panose="020B0604030504040204" pitchFamily="34" charset="0"/>
                          <a:ea typeface="Calibri" panose="020F0502020204030204" pitchFamily="34" charset="0"/>
                          <a:cs typeface="Times New Roman" panose="02020603050405020304" pitchFamily="18" charset="0"/>
                        </a:rPr>
                        <a:t>MBANJWA LUVUNO</a:t>
                      </a:r>
                      <a:endParaRPr lang="en-ZA" sz="1100" kern="10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200" kern="0" dirty="0">
                          <a:effectLst/>
                          <a:latin typeface="Verdana" panose="020B0604030504040204" pitchFamily="34" charset="0"/>
                          <a:ea typeface="Calibri" panose="020F0502020204030204" pitchFamily="34" charset="0"/>
                          <a:cs typeface="Times New Roman" panose="02020603050405020304" pitchFamily="18" charset="0"/>
                        </a:rPr>
                        <a:t> </a:t>
                      </a:r>
                      <a:endParaRPr lang="en-ZA" sz="1100" kern="100" dirty="0">
                        <a:effectLst/>
                        <a:latin typeface="Aptos"/>
                        <a:ea typeface="Aptos"/>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7738" y="3391717"/>
            <a:ext cx="2345599" cy="567762"/>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7738" y="3583071"/>
            <a:ext cx="2397851" cy="580409"/>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58766" y="4002847"/>
            <a:ext cx="3303542" cy="799635"/>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59360" y="4451147"/>
            <a:ext cx="2902948" cy="702670"/>
          </a:xfrm>
          <a:prstGeom prst="rect">
            <a:avLst/>
          </a:prstGeom>
        </p:spPr>
      </p:pic>
      <p:pic>
        <p:nvPicPr>
          <p:cNvPr id="10" name="Pictur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57699" y="5025156"/>
            <a:ext cx="2032091" cy="491875"/>
          </a:xfrm>
          <a:prstGeom prst="rect">
            <a:avLst/>
          </a:prstGeom>
        </p:spPr>
      </p:pic>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59360" y="5250782"/>
            <a:ext cx="3294834" cy="797528"/>
          </a:xfrm>
          <a:prstGeom prst="rect">
            <a:avLst/>
          </a:prstGeom>
        </p:spPr>
      </p:pic>
      <p:pic>
        <p:nvPicPr>
          <p:cNvPr id="12" name="Picture 1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58822" y="5787981"/>
            <a:ext cx="2150996" cy="520657"/>
          </a:xfrm>
          <a:prstGeom prst="rect">
            <a:avLst/>
          </a:prstGeom>
        </p:spPr>
      </p:pic>
      <p:pic>
        <p:nvPicPr>
          <p:cNvPr id="13" name="Picture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07705" y="6210987"/>
            <a:ext cx="2807154" cy="679482"/>
          </a:xfrm>
          <a:prstGeom prst="rect">
            <a:avLst/>
          </a:prstGeom>
        </p:spPr>
      </p:pic>
    </p:spTree>
    <p:extLst>
      <p:ext uri="{BB962C8B-B14F-4D97-AF65-F5344CB8AC3E}">
        <p14:creationId xmlns:p14="http://schemas.microsoft.com/office/powerpoint/2010/main" val="27898007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30583" y="287613"/>
            <a:ext cx="6096000" cy="6357318"/>
          </a:xfrm>
          <a:prstGeom prst="rect">
            <a:avLst/>
          </a:prstGeom>
        </p:spPr>
        <p:txBody>
          <a:bodyPr>
            <a:spAutoFit/>
          </a:bodyPr>
          <a:lstStyle/>
          <a:p>
            <a:pPr algn="ctr">
              <a:lnSpc>
                <a:spcPct val="107000"/>
              </a:lnSpc>
              <a:spcAft>
                <a:spcPts val="800"/>
              </a:spcAft>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TABLE OF CONTENTS</a:t>
            </a: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INTRODUCTION </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PURPOSE</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WHY WE CHOSE THIS DATABASE</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HOW THE LIBRARY WORKS WITHOUT A DATABASE</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MAIN PROBLEMS WITH THE CURRENT DATABASE</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WHY WE NEED A DATABASE</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FIRST NORMAL FORM</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SECOND NORMAL FORM </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THIRD NORMAL FORM </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ENTITY RELATIONSHIP DIAGRAM</a:t>
            </a:r>
          </a:p>
          <a:p>
            <a:pPr marL="342900" lvl="0" indent="-342900">
              <a:lnSpc>
                <a:spcPct val="107000"/>
              </a:lnSpc>
              <a:spcAft>
                <a:spcPts val="0"/>
              </a:spcAft>
              <a:buFont typeface="+mj-lt"/>
              <a:buAutoNum type="arabicPeriod"/>
            </a:pPr>
            <a:endParaRPr lang="en-ZA"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CONCLUSION</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35415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4286" y="262188"/>
            <a:ext cx="7622600" cy="646331"/>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3600" b="0" i="0" u="none" strike="noStrike" kern="0" cap="none" spc="0" normalizeH="0" baseline="0" noProof="0" dirty="0" smtClean="0">
                <a:ln>
                  <a:noFill/>
                </a:ln>
                <a:solidFill>
                  <a:prstClr val="black"/>
                </a:solidFill>
                <a:effectLst/>
                <a:uLnTx/>
                <a:uFillTx/>
                <a:latin typeface="Arial" panose="020B0604020202020204" pitchFamily="34" charset="0"/>
                <a:ea typeface="+mj-ea"/>
                <a:cs typeface="Arial" panose="020B0604020202020204" pitchFamily="34" charset="0"/>
              </a:rPr>
              <a:t>LIBRARY MANAGEMENT SYSTEM</a:t>
            </a:r>
            <a:endParaRPr kumimoji="0" lang="en-ZA" sz="3600" b="0" i="0" u="none" strike="noStrike" kern="0" cap="none" spc="0" normalizeH="0" baseline="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3" name="Rectangle 2"/>
          <p:cNvSpPr/>
          <p:nvPr/>
        </p:nvSpPr>
        <p:spPr>
          <a:xfrm>
            <a:off x="802640" y="1235550"/>
            <a:ext cx="10332720" cy="5941114"/>
          </a:xfrm>
          <a:prstGeom prst="rect">
            <a:avLst/>
          </a:prstGeom>
        </p:spPr>
        <p:txBody>
          <a:bodyPr wrap="square">
            <a:spAutoFit/>
          </a:bodyPr>
          <a:lstStyle/>
          <a:p>
            <a:pPr lvl="0" algn="ctr">
              <a:lnSpc>
                <a:spcPct val="90000"/>
              </a:lnSpc>
              <a:spcBef>
                <a:spcPts val="1000"/>
              </a:spcBef>
            </a:pPr>
            <a:r>
              <a:rPr lang="en-US" sz="2400" b="1" dirty="0" smtClean="0">
                <a:solidFill>
                  <a:prstClr val="black"/>
                </a:solidFill>
                <a:latin typeface="Arial" panose="020B0604020202020204" pitchFamily="34" charset="0"/>
                <a:cs typeface="Arial" panose="020B0604020202020204" pitchFamily="34" charset="0"/>
              </a:rPr>
              <a:t>WHAT </a:t>
            </a:r>
            <a:r>
              <a:rPr lang="en-US" sz="2400" b="1" dirty="0">
                <a:solidFill>
                  <a:prstClr val="black"/>
                </a:solidFill>
                <a:latin typeface="Arial" panose="020B0604020202020204" pitchFamily="34" charset="0"/>
                <a:cs typeface="Arial" panose="020B0604020202020204" pitchFamily="34" charset="0"/>
              </a:rPr>
              <a:t>IS A LIBRARY MANAGEMENT SYSTEM?</a:t>
            </a:r>
          </a:p>
          <a:p>
            <a:pPr lvl="0">
              <a:lnSpc>
                <a:spcPct val="90000"/>
              </a:lnSpc>
              <a:spcBef>
                <a:spcPts val="1000"/>
              </a:spcBef>
            </a:pPr>
            <a:r>
              <a:rPr lang="en-US" sz="2400" dirty="0" smtClean="0">
                <a:solidFill>
                  <a:prstClr val="black"/>
                </a:solidFill>
                <a:latin typeface="Arial" panose="020B0604020202020204" pitchFamily="34" charset="0"/>
                <a:cs typeface="Arial" panose="020B0604020202020204" pitchFamily="34" charset="0"/>
              </a:rPr>
              <a:t>A library management system is a system that automates everything a library does manually, It is a system that helps a librarian to add books, find books, give books to students and take them back, and charge fines all in one place.</a:t>
            </a:r>
          </a:p>
          <a:p>
            <a:pPr lvl="0">
              <a:lnSpc>
                <a:spcPct val="90000"/>
              </a:lnSpc>
              <a:spcBef>
                <a:spcPts val="1000"/>
              </a:spcBef>
            </a:pPr>
            <a:endParaRPr lang="en-US" sz="2400" dirty="0">
              <a:solidFill>
                <a:prstClr val="black"/>
              </a:solidFill>
              <a:latin typeface="Arial" panose="020B0604020202020204" pitchFamily="34" charset="0"/>
              <a:cs typeface="Arial" panose="020B0604020202020204" pitchFamily="34" charset="0"/>
            </a:endParaRPr>
          </a:p>
          <a:p>
            <a:pPr algn="ctr"/>
            <a:r>
              <a:rPr lang="en-GB" sz="2400" b="1" dirty="0" smtClean="0">
                <a:latin typeface="Arial" panose="020B0604020202020204" pitchFamily="34" charset="0"/>
                <a:cs typeface="Arial" panose="020B0604020202020204" pitchFamily="34" charset="0"/>
              </a:rPr>
              <a:t>PURPOSE</a:t>
            </a:r>
          </a:p>
          <a:p>
            <a:pPr algn="ctr"/>
            <a:endParaRPr lang="en-GB" sz="2400" b="1" dirty="0" smtClean="0"/>
          </a:p>
          <a:p>
            <a:r>
              <a:rPr lang="en-US" sz="2400" dirty="0">
                <a:solidFill>
                  <a:prstClr val="black"/>
                </a:solidFill>
                <a:latin typeface="Arial" panose="020B0604020202020204" pitchFamily="34" charset="0"/>
                <a:cs typeface="Arial" panose="020B0604020202020204" pitchFamily="34" charset="0"/>
              </a:rPr>
              <a:t>The main goal of our system is to replace manual way of managing a library with a digital system</a:t>
            </a:r>
            <a:r>
              <a:rPr lang="en-US" sz="2400" dirty="0" smtClean="0">
                <a:solidFill>
                  <a:prstClr val="black"/>
                </a:solidFill>
                <a:latin typeface="Arial" panose="020B0604020202020204" pitchFamily="34" charset="0"/>
                <a:cs typeface="Arial" panose="020B0604020202020204" pitchFamily="34" charset="0"/>
              </a:rPr>
              <a:t>.</a:t>
            </a:r>
            <a:r>
              <a:rPr lang="en-GB" sz="2400" dirty="0" smtClean="0"/>
              <a:t> </a:t>
            </a:r>
            <a:r>
              <a:rPr lang="en-GB" sz="2400" dirty="0" smtClean="0">
                <a:latin typeface="Arial" panose="020B0604020202020204" pitchFamily="34" charset="0"/>
                <a:cs typeface="Arial" panose="020B0604020202020204" pitchFamily="34" charset="0"/>
              </a:rPr>
              <a:t>We want to replace paper registers with a database to maintain organised records of books, members, and transaction histories. We want a system that is fast and easy to use.</a:t>
            </a:r>
          </a:p>
          <a:p>
            <a:pPr lvl="0">
              <a:lnSpc>
                <a:spcPct val="90000"/>
              </a:lnSpc>
              <a:spcBef>
                <a:spcPts val="1000"/>
              </a:spcBef>
            </a:pPr>
            <a:endParaRPr lang="en-US" sz="2400" dirty="0" smtClean="0">
              <a:solidFill>
                <a:prstClr val="black"/>
              </a:solidFill>
              <a:latin typeface="Arial" panose="020B0604020202020204" pitchFamily="34" charset="0"/>
              <a:cs typeface="Arial" panose="020B0604020202020204" pitchFamily="34" charset="0"/>
            </a:endParaRPr>
          </a:p>
          <a:p>
            <a:pPr lvl="0">
              <a:lnSpc>
                <a:spcPct val="90000"/>
              </a:lnSpc>
              <a:spcBef>
                <a:spcPts val="1000"/>
              </a:spcBef>
            </a:pPr>
            <a:endParaRPr lang="en-US" sz="2400" dirty="0" smtClean="0">
              <a:solidFill>
                <a:prstClr val="black"/>
              </a:solidFill>
              <a:latin typeface="Arial" panose="020B0604020202020204" pitchFamily="34" charset="0"/>
              <a:cs typeface="Arial" panose="020B0604020202020204" pitchFamily="34" charset="0"/>
            </a:endParaRPr>
          </a:p>
          <a:p>
            <a:pPr lvl="0">
              <a:lnSpc>
                <a:spcPct val="90000"/>
              </a:lnSpc>
              <a:spcBef>
                <a:spcPts val="1000"/>
              </a:spcBef>
            </a:pPr>
            <a:endParaRPr lang="en-US" sz="2400" dirty="0" smtClean="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992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9440" y="1564640"/>
            <a:ext cx="11450320" cy="3342775"/>
          </a:xfrm>
          <a:prstGeom prst="rect">
            <a:avLst/>
          </a:prstGeom>
        </p:spPr>
        <p:txBody>
          <a:bodyPr wrap="square">
            <a:spAutoFit/>
          </a:bodyPr>
          <a:lstStyle/>
          <a:p>
            <a:pPr lvl="0" algn="ctr">
              <a:lnSpc>
                <a:spcPct val="107000"/>
              </a:lnSpc>
              <a:spcAft>
                <a:spcPts val="800"/>
              </a:spcAft>
              <a:tabLst>
                <a:tab pos="2026920" algn="l"/>
              </a:tabLst>
            </a:pPr>
            <a:r>
              <a:rPr lang="en-US" sz="2400" b="1" dirty="0">
                <a:solidFill>
                  <a:prstClr val="black"/>
                </a:solidFill>
                <a:latin typeface="Arial" panose="020B0604020202020204" pitchFamily="34" charset="0"/>
                <a:ea typeface="Calibri" panose="020F0502020204030204" pitchFamily="34" charset="0"/>
                <a:cs typeface="Arial" panose="020B0604020202020204" pitchFamily="34" charset="0"/>
              </a:rPr>
              <a:t>3.Our system aims to achieve the following:</a:t>
            </a:r>
            <a:endParaRPr lang="en-ZA" sz="2400"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tabLst>
                <a:tab pos="2026920" algn="l"/>
              </a:tabLst>
            </a:pPr>
            <a:r>
              <a:rPr lang="en-US" sz="2400" dirty="0">
                <a:solidFill>
                  <a:prstClr val="black"/>
                </a:solidFill>
                <a:latin typeface="Arial" panose="020B0604020202020204" pitchFamily="34" charset="0"/>
                <a:ea typeface="Calibri" panose="020F0502020204030204" pitchFamily="34" charset="0"/>
                <a:cs typeface="Arial" panose="020B0604020202020204" pitchFamily="34" charset="0"/>
              </a:rPr>
              <a:t>1.Manage Books – Add, Update , and track all the books in the library.</a:t>
            </a:r>
            <a:endParaRPr lang="en-ZA" sz="2400"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tabLst>
                <a:tab pos="2026920" algn="l"/>
              </a:tabLst>
            </a:pPr>
            <a:r>
              <a:rPr lang="en-US" sz="2400" dirty="0">
                <a:solidFill>
                  <a:prstClr val="black"/>
                </a:solidFill>
                <a:latin typeface="Arial" panose="020B0604020202020204" pitchFamily="34" charset="0"/>
                <a:ea typeface="Calibri" panose="020F0502020204030204" pitchFamily="34" charset="0"/>
                <a:cs typeface="Arial" panose="020B0604020202020204" pitchFamily="34" charset="0"/>
              </a:rPr>
              <a:t>2.Manage Members – Register new members and keep their details.</a:t>
            </a:r>
            <a:endParaRPr lang="en-ZA" sz="2400"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tabLst>
                <a:tab pos="2026920" algn="l"/>
              </a:tabLst>
            </a:pPr>
            <a:r>
              <a:rPr lang="en-US" sz="2400" dirty="0">
                <a:solidFill>
                  <a:prstClr val="black"/>
                </a:solidFill>
                <a:latin typeface="Arial" panose="020B0604020202020204" pitchFamily="34" charset="0"/>
                <a:ea typeface="Calibri" panose="020F0502020204030204" pitchFamily="34" charset="0"/>
                <a:cs typeface="Arial" panose="020B0604020202020204" pitchFamily="34" charset="0"/>
              </a:rPr>
              <a:t>3.Manage Borrowing and Returning-Record when a book is borrowed and when  it is due.</a:t>
            </a:r>
            <a:endParaRPr lang="en-ZA" sz="2400"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tabLst>
                <a:tab pos="2026920" algn="l"/>
              </a:tabLst>
            </a:pPr>
            <a:r>
              <a:rPr lang="en-US" sz="2400" dirty="0">
                <a:solidFill>
                  <a:prstClr val="black"/>
                </a:solidFill>
                <a:latin typeface="Arial" panose="020B0604020202020204" pitchFamily="34" charset="0"/>
                <a:ea typeface="Calibri" panose="020F0502020204030204" pitchFamily="34" charset="0"/>
                <a:cs typeface="Arial" panose="020B0604020202020204" pitchFamily="34" charset="0"/>
              </a:rPr>
              <a:t>4.Calculate fines for late returns automatically.</a:t>
            </a:r>
            <a:endParaRPr lang="en-ZA" sz="2400"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tabLst>
                <a:tab pos="2026920" algn="l"/>
              </a:tabLst>
            </a:pPr>
            <a:r>
              <a:rPr lang="en-US" sz="2400" dirty="0">
                <a:solidFill>
                  <a:prstClr val="black"/>
                </a:solidFill>
                <a:latin typeface="Arial" panose="020B0604020202020204" pitchFamily="34" charset="0"/>
                <a:ea typeface="Calibri" panose="020F0502020204030204" pitchFamily="34" charset="0"/>
                <a:cs typeface="Arial" panose="020B0604020202020204" pitchFamily="34" charset="0"/>
              </a:rPr>
              <a:t>5.Make it easy to search for a book by title, author, or category.</a:t>
            </a:r>
            <a:endParaRPr lang="en-ZA" sz="24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758964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776" y="109979"/>
            <a:ext cx="9762309" cy="7786747"/>
          </a:xfrm>
          <a:prstGeom prst="rect">
            <a:avLst/>
          </a:prstGeom>
        </p:spPr>
        <p:txBody>
          <a:bodyPr wrap="square">
            <a:spAutoFit/>
          </a:bodyPr>
          <a:lstStyle/>
          <a:p>
            <a:endParaRPr lang="en-GB" sz="2000" dirty="0" smtClean="0"/>
          </a:p>
          <a:p>
            <a:pPr algn="ctr"/>
            <a:r>
              <a:rPr lang="en-GB" sz="2000" b="1" i="0" dirty="0" smtClean="0">
                <a:solidFill>
                  <a:srgbClr val="222222"/>
                </a:solidFill>
                <a:effectLst/>
                <a:latin typeface="Arial" panose="020B0604020202020204" pitchFamily="34" charset="0"/>
              </a:rPr>
              <a:t>What a library does / What services it provides</a:t>
            </a:r>
            <a:r>
              <a:rPr lang="en-GB" sz="2000" b="0" i="0" dirty="0" smtClean="0">
                <a:solidFill>
                  <a:srgbClr val="222222"/>
                </a:solidFill>
                <a:effectLst/>
                <a:latin typeface="Arial" panose="020B0604020202020204" pitchFamily="34" charset="0"/>
              </a:rPr>
              <a:t> </a:t>
            </a:r>
          </a:p>
          <a:p>
            <a:r>
              <a:rPr lang="en-GB" sz="2000" b="0" i="0" dirty="0" smtClean="0">
                <a:solidFill>
                  <a:srgbClr val="222222"/>
                </a:solidFill>
                <a:effectLst/>
                <a:latin typeface="Arial" panose="020B0604020202020204" pitchFamily="34" charset="0"/>
              </a:rPr>
              <a:t/>
            </a:r>
            <a:br>
              <a:rPr lang="en-GB" sz="2000" b="0" i="0" dirty="0" smtClean="0">
                <a:solidFill>
                  <a:srgbClr val="222222"/>
                </a:solidFill>
                <a:effectLst/>
                <a:latin typeface="Arial" panose="020B0604020202020204" pitchFamily="34" charset="0"/>
              </a:rPr>
            </a:br>
            <a:r>
              <a:rPr lang="en-GB" sz="2000" b="0" i="0" dirty="0" smtClean="0">
                <a:solidFill>
                  <a:srgbClr val="222222"/>
                </a:solidFill>
                <a:effectLst/>
                <a:latin typeface="Arial" panose="020B0604020202020204" pitchFamily="34" charset="0"/>
              </a:rPr>
              <a:t>Our Library helps people find books and borrow them. Our database management uses a computer system to keep track of all the books, the people who borrow them and the staff that works there. Our database provides reservations, clients can reserve books. The system keeps track of the date they made the reservation and how many books they want. The system makes it very simple for reservations, we know exactly which client reserved a book and on which date. The system helps the staff to manage clients more efficiently when it comes to borrowing of books, due dates etc. </a:t>
            </a:r>
          </a:p>
          <a:p>
            <a:endParaRPr lang="en-GB" sz="2000" dirty="0">
              <a:solidFill>
                <a:srgbClr val="222222"/>
              </a:solidFill>
              <a:latin typeface="Arial" panose="020B0604020202020204" pitchFamily="34" charset="0"/>
            </a:endParaRPr>
          </a:p>
          <a:p>
            <a:pPr algn="ctr"/>
            <a:r>
              <a:rPr lang="en-GB" sz="2000" b="1" dirty="0"/>
              <a:t>How members borrow and return </a:t>
            </a:r>
            <a:r>
              <a:rPr lang="en-GB" sz="2000" b="1" dirty="0" smtClean="0"/>
              <a:t>books / </a:t>
            </a:r>
            <a:r>
              <a:rPr lang="en-GB" sz="2000" b="1" dirty="0"/>
              <a:t>How books are managed</a:t>
            </a:r>
          </a:p>
          <a:p>
            <a:r>
              <a:rPr lang="en-GB" sz="2000" dirty="0"/>
              <a:t/>
            </a:r>
            <a:br>
              <a:rPr lang="en-GB" sz="2000" dirty="0"/>
            </a:br>
            <a:r>
              <a:rPr lang="en-GB" sz="2000" dirty="0" smtClean="0"/>
              <a:t>Every </a:t>
            </a:r>
            <a:r>
              <a:rPr lang="en-GB" sz="2000" dirty="0"/>
              <a:t>book is assigned with a unique BookID and tracked by the title and ISBN. Sometimes a book has more than one author and an author writes more than one book. To handle this, we use a special table called BookAuthor connecting the BookID to the AuthorID so we always know who wrote what. It is also a smart way to link books and authors without making a mess of the data. When a client borrows we create a record in the reservation table. It saves the ClientID, LibraryID, date and quantity. When they return the book, we update it. So we always know who has which </a:t>
            </a:r>
            <a:r>
              <a:rPr lang="en-GB" sz="2000" dirty="0" smtClean="0"/>
              <a:t>book.</a:t>
            </a:r>
          </a:p>
          <a:p>
            <a:endParaRPr lang="en-GB" sz="2000" dirty="0"/>
          </a:p>
          <a:p>
            <a:r>
              <a:rPr lang="en-GB" sz="2000" dirty="0" smtClean="0"/>
              <a:t/>
            </a:r>
            <a:br>
              <a:rPr lang="en-GB" sz="2000" dirty="0" smtClean="0"/>
            </a:br>
            <a:endParaRPr lang="en-GB" sz="2000" dirty="0"/>
          </a:p>
          <a:p>
            <a:endParaRPr lang="en-GB" sz="2000"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42276932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360738"/>
            <a:ext cx="8961120" cy="461665"/>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2400" b="1" i="0" u="none" strike="noStrike" kern="0" cap="none" spc="0" normalizeH="0" baseline="0" noProof="0" dirty="0" smtClean="0">
                <a:ln>
                  <a:noFill/>
                </a:ln>
                <a:solidFill>
                  <a:prstClr val="black"/>
                </a:solidFill>
                <a:effectLst/>
                <a:uLnTx/>
                <a:uFillTx/>
                <a:latin typeface="Arial" panose="020B0604020202020204" pitchFamily="34" charset="0"/>
                <a:ea typeface="+mj-ea"/>
                <a:cs typeface="Arial" panose="020B0604020202020204" pitchFamily="34" charset="0"/>
              </a:rPr>
              <a:t>WHY DID WE CHOOSE THIS MANAGENT SYSTEM</a:t>
            </a:r>
            <a:endParaRPr kumimoji="0" lang="en-ZA" sz="2400" b="1" i="0" u="none" strike="noStrike" kern="0" cap="none" spc="0" normalizeH="0" baseline="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3" name="Rectangle 2"/>
          <p:cNvSpPr/>
          <p:nvPr/>
        </p:nvSpPr>
        <p:spPr>
          <a:xfrm>
            <a:off x="1010195" y="1431400"/>
            <a:ext cx="9474925" cy="5130635"/>
          </a:xfrm>
          <a:prstGeom prst="rect">
            <a:avLst/>
          </a:prstGeom>
        </p:spPr>
        <p:txBody>
          <a:bodyPr wrap="square">
            <a:spAutoFit/>
          </a:bodyPr>
          <a:lstStyle/>
          <a:p>
            <a:pPr lvl="0" algn="ctr">
              <a:lnSpc>
                <a:spcPct val="90000"/>
              </a:lnSpc>
              <a:spcBef>
                <a:spcPts val="1000"/>
              </a:spcBef>
            </a:pPr>
            <a:r>
              <a:rPr lang="en-ZA" sz="2800" dirty="0">
                <a:solidFill>
                  <a:prstClr val="black"/>
                </a:solidFill>
                <a:latin typeface="Arial" panose="020B0604020202020204" pitchFamily="34" charset="0"/>
                <a:cs typeface="Arial" panose="020B0604020202020204" pitchFamily="34" charset="0"/>
              </a:rPr>
              <a:t>We chose a library management system because in almost every community and school they are still using paper to record details and information of books borrowed, which ultimately leads to books getting lost, records being duplicated, and a lot of time is wasted. It is a problem that can be applied in real life and solved with IT skills.</a:t>
            </a:r>
          </a:p>
          <a:p>
            <a:pPr lvl="0" algn="ctr">
              <a:lnSpc>
                <a:spcPct val="90000"/>
              </a:lnSpc>
              <a:spcBef>
                <a:spcPts val="1000"/>
              </a:spcBef>
            </a:pPr>
            <a:endParaRPr lang="en-ZA" sz="28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2800" b="1" dirty="0">
                <a:solidFill>
                  <a:prstClr val="black"/>
                </a:solidFill>
                <a:latin typeface="Arial" panose="020B0604020202020204" pitchFamily="34" charset="0"/>
                <a:cs typeface="Arial" panose="020B0604020202020204" pitchFamily="34" charset="0"/>
              </a:rPr>
              <a:t>EXPLAIN WHY WE CREATED THE SYSTEM	</a:t>
            </a:r>
          </a:p>
          <a:p>
            <a:pPr lvl="0" algn="ctr">
              <a:lnSpc>
                <a:spcPct val="90000"/>
              </a:lnSpc>
              <a:spcBef>
                <a:spcPts val="1000"/>
              </a:spcBef>
            </a:pPr>
            <a:r>
              <a:rPr lang="en-ZA" sz="2800" dirty="0">
                <a:solidFill>
                  <a:prstClr val="black"/>
                </a:solidFill>
                <a:latin typeface="Arial" panose="020B0604020202020204" pitchFamily="34" charset="0"/>
                <a:cs typeface="Arial" panose="020B0604020202020204" pitchFamily="34" charset="0"/>
              </a:rPr>
              <a:t>As IT students this project allows us to practice database design , user interface and lastly system development. While creating a system that is useful to our community and our Institution Library.</a:t>
            </a:r>
            <a:endParaRPr lang="en-ZA" sz="28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69440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3234" y="322928"/>
            <a:ext cx="6688183" cy="853952"/>
          </a:xfrm>
          <a:prstGeom prst="rect">
            <a:avLst/>
          </a:prstGeom>
        </p:spPr>
        <p:txBody>
          <a:bodyPr wrap="square">
            <a:spAutoFit/>
          </a:bodyPr>
          <a:lstStyle/>
          <a:p>
            <a:pPr algn="ctr">
              <a:lnSpc>
                <a:spcPct val="107000"/>
              </a:lnSpc>
              <a:spcAft>
                <a:spcPts val="800"/>
              </a:spcAft>
              <a:tabLst>
                <a:tab pos="2026920" algn="l"/>
              </a:tabLst>
            </a:pPr>
            <a:r>
              <a:rPr lang="en-ZA" sz="2400" b="1" dirty="0" smtClean="0">
                <a:effectLst/>
                <a:latin typeface="Arial" panose="020B0604020202020204" pitchFamily="34" charset="0"/>
                <a:ea typeface="Calibri" panose="020F0502020204030204" pitchFamily="34" charset="0"/>
                <a:cs typeface="Arial" panose="020B0604020202020204" pitchFamily="34" charset="0"/>
              </a:rPr>
              <a:t>EXISTING</a:t>
            </a:r>
            <a:r>
              <a:rPr lang="en-ZA" sz="24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2400" b="1" dirty="0" smtClean="0">
                <a:effectLst/>
                <a:latin typeface="Arial" panose="020B0604020202020204" pitchFamily="34" charset="0"/>
                <a:ea typeface="Calibri" panose="020F0502020204030204" pitchFamily="34" charset="0"/>
                <a:cs typeface="Arial" panose="020B0604020202020204" pitchFamily="34" charset="0"/>
              </a:rPr>
              <a:t>RECORDS KEEPING AND PROCESSES DESCRIBED</a:t>
            </a:r>
            <a:endParaRPr lang="en-ZA" sz="2400" dirty="0">
              <a:effectLst/>
              <a:latin typeface="Arial" panose="020B0604020202020204" pitchFamily="34" charset="0"/>
              <a:ea typeface="Calibri" panose="020F0502020204030204" pitchFamily="34" charset="0"/>
              <a:cs typeface="Arial" panose="020B0604020202020204" pitchFamily="34" charset="0"/>
            </a:endParaRPr>
          </a:p>
        </p:txBody>
      </p:sp>
      <p:sp>
        <p:nvSpPr>
          <p:cNvPr id="3" name="Rectangle 2"/>
          <p:cNvSpPr/>
          <p:nvPr/>
        </p:nvSpPr>
        <p:spPr>
          <a:xfrm>
            <a:off x="1075508" y="1272881"/>
            <a:ext cx="9483633" cy="5585119"/>
          </a:xfrm>
          <a:prstGeom prst="rect">
            <a:avLst/>
          </a:prstGeom>
        </p:spPr>
        <p:txBody>
          <a:bodyPr wrap="square">
            <a:spAutoFit/>
          </a:bodyPr>
          <a:lstStyle/>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1.Member Registration</a:t>
            </a:r>
          </a:p>
          <a:p>
            <a:pPr lvl="0" algn="just">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When a person signs in at the library, The staff collects primary details such as student or client ID and other secondary details such like contact details, first name and last name. Without a proper library system these details may be written on a spread sheet. Member information can may be lost or duplicated by using this type of registration.</a:t>
            </a:r>
          </a:p>
          <a:p>
            <a:pPr lvl="0" algn="just">
              <a:lnSpc>
                <a:spcPct val="90000"/>
              </a:lnSpc>
              <a:spcBef>
                <a:spcPts val="1000"/>
              </a:spcBef>
            </a:pPr>
            <a:endParaRPr lang="en-ZA" sz="16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2.Record Books</a:t>
            </a:r>
          </a:p>
          <a:p>
            <a:pPr lvl="0" algn="just">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When new books are received at the library , the staff may have to manually record information such as category , edition, number and date, this can make it difficult to know exactly how many books are available and where they are.</a:t>
            </a:r>
          </a:p>
          <a:p>
            <a:pPr lvl="0" algn="just">
              <a:lnSpc>
                <a:spcPct val="90000"/>
              </a:lnSpc>
              <a:spcBef>
                <a:spcPts val="1000"/>
              </a:spcBef>
            </a:pPr>
            <a:endParaRPr lang="en-ZA" sz="16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3.Tracking Overdue Books</a:t>
            </a:r>
          </a:p>
          <a:p>
            <a:pPr lvl="0" algn="just">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The staff will have to check loan records to determine which books have passed their return due times and dates , and this may become time consuming and overdue books may be overlooked.</a:t>
            </a:r>
          </a:p>
          <a:p>
            <a:pPr lvl="0" algn="just">
              <a:lnSpc>
                <a:spcPct val="90000"/>
              </a:lnSpc>
              <a:spcBef>
                <a:spcPts val="1000"/>
              </a:spcBef>
            </a:pPr>
            <a:endParaRPr lang="en-ZA" sz="16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4.Maintaining Records</a:t>
            </a:r>
          </a:p>
          <a:p>
            <a:pPr lvl="0" algn="just">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The library may have information leak across files and physical records and this may cause a problem as information is not centralised which makes it harder to keep everything updated and in the right order.</a:t>
            </a:r>
            <a:endParaRPr lang="en-ZA" sz="16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2505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5451" y="372424"/>
            <a:ext cx="6096000" cy="954107"/>
          </a:xfrm>
          <a:prstGeom prst="rect">
            <a:avLst/>
          </a:prstGeom>
        </p:spPr>
        <p:txBody>
          <a:bodyP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2400" b="1" i="0" u="none" strike="noStrike" kern="0" cap="none" spc="0" normalizeH="0" baseline="0" noProof="0" dirty="0" smtClean="0">
                <a:ln>
                  <a:noFill/>
                </a:ln>
                <a:solidFill>
                  <a:prstClr val="black"/>
                </a:solidFill>
                <a:effectLst/>
                <a:uLnTx/>
                <a:uFillTx/>
                <a:latin typeface="Arial" panose="020B0604020202020204" pitchFamily="34" charset="0"/>
                <a:ea typeface="+mj-ea"/>
                <a:cs typeface="Arial" panose="020B0604020202020204" pitchFamily="34" charset="0"/>
              </a:rPr>
              <a:t>MAIN PROBLEMS WITH THE CURRENT</a:t>
            </a:r>
            <a:r>
              <a:rPr kumimoji="0" lang="en-ZA" sz="3200" b="1" i="0" u="none" strike="noStrike" kern="0" cap="none" spc="0" normalizeH="0" baseline="0" noProof="0" dirty="0" smtClean="0">
                <a:ln>
                  <a:noFill/>
                </a:ln>
                <a:solidFill>
                  <a:prstClr val="black"/>
                </a:solidFill>
                <a:effectLst/>
                <a:uLnTx/>
                <a:uFillTx/>
                <a:latin typeface="Arial" panose="020B0604020202020204" pitchFamily="34" charset="0"/>
                <a:ea typeface="+mj-ea"/>
                <a:cs typeface="Arial" panose="020B0604020202020204" pitchFamily="34" charset="0"/>
              </a:rPr>
              <a:t> </a:t>
            </a:r>
            <a:r>
              <a:rPr kumimoji="0" lang="en-ZA" sz="2400" b="1" i="0" u="none" strike="noStrike" kern="0" cap="none" spc="0" normalizeH="0" baseline="0" noProof="0" dirty="0" smtClean="0">
                <a:ln>
                  <a:noFill/>
                </a:ln>
                <a:solidFill>
                  <a:prstClr val="black"/>
                </a:solidFill>
                <a:effectLst/>
                <a:uLnTx/>
                <a:uFillTx/>
                <a:latin typeface="Arial" panose="020B0604020202020204" pitchFamily="34" charset="0"/>
                <a:ea typeface="+mj-ea"/>
                <a:cs typeface="Arial" panose="020B0604020202020204" pitchFamily="34" charset="0"/>
              </a:rPr>
              <a:t>SYSTEM</a:t>
            </a:r>
            <a:endParaRPr kumimoji="0" lang="en-ZA" sz="2400" b="1" i="0" u="none" strike="noStrike" kern="0" cap="none" spc="0" normalizeH="0" baseline="0" noProof="0" dirty="0" smtClean="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3" name="Rectangle 2"/>
          <p:cNvSpPr/>
          <p:nvPr/>
        </p:nvSpPr>
        <p:spPr>
          <a:xfrm>
            <a:off x="522514" y="1519651"/>
            <a:ext cx="9875520" cy="6004721"/>
          </a:xfrm>
          <a:prstGeom prst="rect">
            <a:avLst/>
          </a:prstGeom>
        </p:spPr>
        <p:txBody>
          <a:bodyPr wrap="square">
            <a:spAutoFit/>
          </a:bodyPr>
          <a:lstStyle/>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1.Duplication</a:t>
            </a:r>
          </a:p>
          <a:p>
            <a:pPr lvl="0" algn="ctr">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The member’s and books information may be recorded multiple times</a:t>
            </a:r>
          </a:p>
          <a:p>
            <a:pPr lvl="0" algn="ctr">
              <a:lnSpc>
                <a:spcPct val="90000"/>
              </a:lnSpc>
              <a:spcBef>
                <a:spcPts val="1000"/>
              </a:spcBef>
            </a:pPr>
            <a:endParaRPr lang="en-ZA" sz="16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2.Difficulty finding information </a:t>
            </a:r>
          </a:p>
          <a:p>
            <a:pPr lvl="0" algn="ctr">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Staff has to fiddle through the physical records and hard copies looking for certain information about a book or member which takes a long time.</a:t>
            </a:r>
          </a:p>
          <a:p>
            <a:pPr lvl="0" algn="ctr">
              <a:lnSpc>
                <a:spcPct val="90000"/>
              </a:lnSpc>
              <a:spcBef>
                <a:spcPts val="1000"/>
              </a:spcBef>
            </a:pPr>
            <a:endParaRPr lang="en-ZA" sz="1600" b="1"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3.Human Errors</a:t>
            </a:r>
            <a:endParaRPr lang="en-ZA" sz="16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Information can be recorded incorrectly</a:t>
            </a:r>
          </a:p>
          <a:p>
            <a:pPr lvl="0" algn="ctr">
              <a:lnSpc>
                <a:spcPct val="90000"/>
              </a:lnSpc>
              <a:spcBef>
                <a:spcPts val="1000"/>
              </a:spcBef>
            </a:pPr>
            <a:endParaRPr lang="en-ZA" sz="1600" b="1"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4.Data Inconsistency</a:t>
            </a:r>
          </a:p>
          <a:p>
            <a:pPr lvl="0" algn="ctr">
              <a:lnSpc>
                <a:spcPct val="90000"/>
              </a:lnSpc>
              <a:spcBef>
                <a:spcPts val="1000"/>
              </a:spcBef>
            </a:pPr>
            <a:r>
              <a:rPr lang="en-ZA" sz="1600" dirty="0">
                <a:solidFill>
                  <a:prstClr val="black"/>
                </a:solidFill>
                <a:latin typeface="Arial" panose="020B0604020202020204" pitchFamily="34" charset="0"/>
                <a:cs typeface="Arial" panose="020B0604020202020204" pitchFamily="34" charset="0"/>
              </a:rPr>
              <a:t>Information in different records may not correspond.</a:t>
            </a:r>
          </a:p>
          <a:p>
            <a:pPr lvl="0" algn="ctr">
              <a:lnSpc>
                <a:spcPct val="90000"/>
              </a:lnSpc>
              <a:spcBef>
                <a:spcPts val="1000"/>
              </a:spcBef>
            </a:pPr>
            <a:endParaRPr lang="en-ZA" sz="1600"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In contrary a centralised database would allow the library to store and retrieve this information more efficiently</a:t>
            </a:r>
          </a:p>
          <a:p>
            <a:pPr lvl="0" algn="ctr">
              <a:lnSpc>
                <a:spcPct val="90000"/>
              </a:lnSpc>
              <a:spcBef>
                <a:spcPts val="1000"/>
              </a:spcBef>
            </a:pPr>
            <a:r>
              <a:rPr lang="en-ZA" sz="1600" b="1" dirty="0">
                <a:solidFill>
                  <a:prstClr val="black"/>
                </a:solidFill>
                <a:latin typeface="Arial" panose="020B0604020202020204" pitchFamily="34" charset="0"/>
                <a:cs typeface="Arial" panose="020B0604020202020204" pitchFamily="34" charset="0"/>
              </a:rPr>
              <a:t>and accurately and make searching for books or information more easier and less time consuming.</a:t>
            </a:r>
          </a:p>
          <a:p>
            <a:pPr lvl="0" algn="ctr">
              <a:lnSpc>
                <a:spcPct val="90000"/>
              </a:lnSpc>
              <a:spcBef>
                <a:spcPts val="1000"/>
              </a:spcBef>
            </a:pPr>
            <a:endParaRPr lang="en-ZA" sz="1600" b="1" dirty="0">
              <a:solidFill>
                <a:prstClr val="black"/>
              </a:solidFill>
              <a:latin typeface="Arial" panose="020B0604020202020204" pitchFamily="34" charset="0"/>
              <a:cs typeface="Arial" panose="020B0604020202020204" pitchFamily="34" charset="0"/>
            </a:endParaRPr>
          </a:p>
          <a:p>
            <a:pPr lvl="0" algn="ctr">
              <a:lnSpc>
                <a:spcPct val="90000"/>
              </a:lnSpc>
              <a:spcBef>
                <a:spcPts val="1000"/>
              </a:spcBef>
            </a:pPr>
            <a:endParaRPr lang="en-ZA" sz="1600" b="1"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18597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2744" y="548533"/>
            <a:ext cx="8708571" cy="7171194"/>
          </a:xfrm>
          <a:prstGeom prst="rect">
            <a:avLst/>
          </a:prstGeom>
        </p:spPr>
        <p:txBody>
          <a:bodyPr wrap="square">
            <a:spAutoFit/>
          </a:bodyPr>
          <a:lstStyle/>
          <a:p>
            <a:pPr algn="ctr"/>
            <a:r>
              <a:rPr lang="en-GB" sz="3600" b="1" dirty="0" smtClean="0">
                <a:latin typeface="Arial" panose="020B0604020202020204" pitchFamily="34" charset="0"/>
                <a:cs typeface="Arial" panose="020B0604020202020204" pitchFamily="34" charset="0"/>
              </a:rPr>
              <a:t>WHY DO WE NEED A DATABASE?</a:t>
            </a:r>
          </a:p>
          <a:p>
            <a:endParaRPr lang="en-GB" sz="3200" dirty="0" smtClean="0">
              <a:latin typeface="Arial" panose="020B0604020202020204" pitchFamily="34" charset="0"/>
              <a:cs typeface="Arial" panose="020B0604020202020204" pitchFamily="34" charset="0"/>
            </a:endParaRPr>
          </a:p>
          <a:p>
            <a:pPr algn="ctr"/>
            <a:r>
              <a:rPr lang="en-GB" sz="3200" dirty="0" smtClean="0">
                <a:latin typeface="Arial" panose="020B0604020202020204" pitchFamily="34" charset="0"/>
                <a:cs typeface="Arial" panose="020B0604020202020204" pitchFamily="34" charset="0"/>
              </a:rPr>
              <a:t>We build a library management system database to replace slow manual paperwork with an organized, automated system that securely tracks books, users, and borrowing activities. In a file based system, the same data might be stored in multiple files. If that information changes, updating it everywhere is prone to error, leading to conflict records. A Database Management System centralizes data to a single source of truth.</a:t>
            </a:r>
          </a:p>
          <a:p>
            <a:r>
              <a:rPr lang="en-GB" dirty="0" smtClean="0">
                <a:latin typeface="Arial" panose="020B0604020202020204" pitchFamily="34" charset="0"/>
                <a:cs typeface="Arial" panose="020B0604020202020204" pitchFamily="34" charset="0"/>
              </a:rPr>
              <a:t/>
            </a:r>
            <a:br>
              <a:rPr lang="en-GB" dirty="0" smtClean="0">
                <a:latin typeface="Arial" panose="020B0604020202020204" pitchFamily="34" charset="0"/>
                <a:cs typeface="Arial" panose="020B0604020202020204" pitchFamily="34" charset="0"/>
              </a:rPr>
            </a:br>
            <a:endParaRPr lang="en-GB" dirty="0" smtClean="0">
              <a:latin typeface="Arial" panose="020B0604020202020204" pitchFamily="34" charset="0"/>
              <a:cs typeface="Arial" panose="020B0604020202020204" pitchFamily="34" charset="0"/>
            </a:endParaRPr>
          </a:p>
          <a:p>
            <a:r>
              <a:rPr lang="en-GB" dirty="0" smtClean="0">
                <a:latin typeface="Arial" panose="020B0604020202020204" pitchFamily="34" charset="0"/>
                <a:cs typeface="Arial" panose="020B0604020202020204" pitchFamily="34" charset="0"/>
              </a:rPr>
              <a:t/>
            </a:r>
            <a:br>
              <a:rPr lang="en-GB" dirty="0" smtClean="0">
                <a:latin typeface="Arial" panose="020B0604020202020204" pitchFamily="34" charset="0"/>
                <a:cs typeface="Arial" panose="020B0604020202020204" pitchFamily="34" charset="0"/>
              </a:rPr>
            </a:br>
            <a:endParaRPr lang="en-Z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34190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2400" y="592525"/>
            <a:ext cx="9367520" cy="6001643"/>
          </a:xfrm>
          <a:prstGeom prst="rect">
            <a:avLst/>
          </a:prstGeom>
        </p:spPr>
        <p:txBody>
          <a:bodyPr wrap="square">
            <a:spAutoFit/>
          </a:bodyPr>
          <a:lstStyle/>
          <a:p>
            <a:pPr algn="ctr"/>
            <a:r>
              <a:rPr lang="en-GB" sz="2400" b="1" dirty="0" smtClean="0">
                <a:latin typeface="Arial" panose="020B0604020202020204" pitchFamily="34" charset="0"/>
                <a:cs typeface="Arial" panose="020B0604020202020204" pitchFamily="34" charset="0"/>
              </a:rPr>
              <a:t>HOW</a:t>
            </a:r>
            <a:r>
              <a:rPr lang="en-GB" sz="2400" b="1" dirty="0" smtClean="0"/>
              <a:t> THE DATABASE DO SPECIFIC TASKS</a:t>
            </a:r>
          </a:p>
          <a:p>
            <a:endParaRPr lang="en-GB" sz="2400" b="1" dirty="0"/>
          </a:p>
          <a:p>
            <a:r>
              <a:rPr lang="en-GB" sz="2000" dirty="0" smtClean="0">
                <a:latin typeface="Arial" panose="020B0604020202020204" pitchFamily="34" charset="0"/>
                <a:cs typeface="Arial" panose="020B0604020202020204" pitchFamily="34" charset="0"/>
              </a:rPr>
              <a:t>Tracking Book circulation (returns and Checkouts)</a:t>
            </a:r>
          </a:p>
          <a:p>
            <a:r>
              <a:rPr lang="en-GB" sz="2000" dirty="0" smtClean="0">
                <a:latin typeface="Arial" panose="020B0604020202020204" pitchFamily="34" charset="0"/>
                <a:cs typeface="Arial" panose="020B0604020202020204" pitchFamily="34" charset="0"/>
              </a:rPr>
              <a:t>The library must know who has a book, when it is due, and if it was returned</a:t>
            </a:r>
          </a:p>
          <a:p>
            <a:r>
              <a:rPr lang="en-GB" sz="2000" dirty="0" smtClean="0">
                <a:latin typeface="Arial" panose="020B0604020202020204" pitchFamily="34" charset="0"/>
                <a:cs typeface="Arial" panose="020B0604020202020204" pitchFamily="34" charset="0"/>
              </a:rPr>
              <a:t>A transaction or record table links the member's ID with a book Copy ID, recording the issue date and return date. When a book is scanned, the database updates the item's status instantly from "available" to "Checked out".</a:t>
            </a:r>
          </a:p>
          <a:p>
            <a:r>
              <a:rPr lang="en-GB" sz="2000" dirty="0" smtClean="0">
                <a:latin typeface="Arial" panose="020B0604020202020204" pitchFamily="34" charset="0"/>
                <a:cs typeface="Arial" panose="020B0604020202020204" pitchFamily="34" charset="0"/>
              </a:rPr>
              <a:t/>
            </a:r>
            <a:br>
              <a:rPr lang="en-GB" sz="2000" dirty="0" smtClean="0">
                <a:latin typeface="Arial" panose="020B0604020202020204" pitchFamily="34" charset="0"/>
                <a:cs typeface="Arial" panose="020B0604020202020204" pitchFamily="34" charset="0"/>
              </a:rPr>
            </a:br>
            <a:endParaRPr lang="en-GB" sz="2000" dirty="0" smtClean="0">
              <a:latin typeface="Arial" panose="020B0604020202020204" pitchFamily="34" charset="0"/>
              <a:cs typeface="Arial" panose="020B0604020202020204" pitchFamily="34" charset="0"/>
            </a:endParaRPr>
          </a:p>
          <a:p>
            <a:r>
              <a:rPr lang="en-GB" sz="2000" dirty="0" smtClean="0">
                <a:latin typeface="Arial" panose="020B0604020202020204" pitchFamily="34" charset="0"/>
                <a:cs typeface="Arial" panose="020B0604020202020204" pitchFamily="34" charset="0"/>
              </a:rPr>
              <a:t>Searching and Discovering Books</a:t>
            </a:r>
          </a:p>
          <a:p>
            <a:r>
              <a:rPr lang="en-GB" sz="2000" dirty="0" smtClean="0">
                <a:latin typeface="Arial" panose="020B0604020202020204" pitchFamily="34" charset="0"/>
                <a:cs typeface="Arial" panose="020B0604020202020204" pitchFamily="34" charset="0"/>
              </a:rPr>
              <a:t>Members and staff need to find it a specific title or author is in stock without walking the aisles.</a:t>
            </a:r>
          </a:p>
          <a:p>
            <a:r>
              <a:rPr lang="en-GB" sz="2000" dirty="0" smtClean="0">
                <a:latin typeface="Arial" panose="020B0604020202020204" pitchFamily="34" charset="0"/>
                <a:cs typeface="Arial" panose="020B0604020202020204" pitchFamily="34" charset="0"/>
              </a:rPr>
              <a:t/>
            </a:r>
            <a:br>
              <a:rPr lang="en-GB" sz="2000" dirty="0" smtClean="0">
                <a:latin typeface="Arial" panose="020B0604020202020204" pitchFamily="34" charset="0"/>
                <a:cs typeface="Arial" panose="020B0604020202020204" pitchFamily="34" charset="0"/>
              </a:rPr>
            </a:br>
            <a:endParaRPr lang="en-GB" sz="2000" dirty="0" smtClean="0">
              <a:latin typeface="Arial" panose="020B0604020202020204" pitchFamily="34" charset="0"/>
              <a:cs typeface="Arial" panose="020B0604020202020204" pitchFamily="34" charset="0"/>
            </a:endParaRPr>
          </a:p>
          <a:p>
            <a:r>
              <a:rPr lang="en-GB" sz="2000" dirty="0" smtClean="0">
                <a:latin typeface="Arial" panose="020B0604020202020204" pitchFamily="34" charset="0"/>
                <a:cs typeface="Arial" panose="020B0604020202020204" pitchFamily="34" charset="0"/>
              </a:rPr>
              <a:t>The book table contains indexed attributes like title author, ISBN and category. Search queries run against these indexed fields to return matching results in mini-seconds.</a:t>
            </a:r>
          </a:p>
          <a:p>
            <a:r>
              <a:rPr lang="en-GB" dirty="0" smtClean="0"/>
              <a:t/>
            </a:r>
            <a:br>
              <a:rPr lang="en-GB" dirty="0" smtClean="0"/>
            </a:br>
            <a:endParaRPr lang="en-ZA" dirty="0"/>
          </a:p>
        </p:txBody>
      </p:sp>
    </p:spTree>
    <p:extLst>
      <p:ext uri="{BB962C8B-B14F-4D97-AF65-F5344CB8AC3E}">
        <p14:creationId xmlns:p14="http://schemas.microsoft.com/office/powerpoint/2010/main" val="4158618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080" y="139571"/>
            <a:ext cx="12059920" cy="6863417"/>
          </a:xfrm>
          <a:prstGeom prst="rect">
            <a:avLst/>
          </a:prstGeom>
        </p:spPr>
        <p:txBody>
          <a:bodyPr wrap="square">
            <a:spAutoFit/>
          </a:bodyPr>
          <a:lstStyle/>
          <a:p>
            <a:pPr algn="ctr"/>
            <a:r>
              <a:rPr lang="en-GB" sz="2000" b="1" i="0" dirty="0" smtClean="0">
                <a:solidFill>
                  <a:srgbClr val="222222"/>
                </a:solidFill>
                <a:effectLst/>
                <a:latin typeface="Arial" panose="020B0604020202020204" pitchFamily="34" charset="0"/>
              </a:rPr>
              <a:t>Managing Fines and Overdue Penalties</a:t>
            </a:r>
          </a:p>
          <a:p>
            <a:endParaRPr lang="en-GB" b="0" i="0" dirty="0" smtClean="0">
              <a:solidFill>
                <a:srgbClr val="222222"/>
              </a:solidFill>
              <a:effectLst/>
              <a:latin typeface="Arial" panose="020B0604020202020204" pitchFamily="34" charset="0"/>
            </a:endParaRPr>
          </a:p>
          <a:p>
            <a:r>
              <a:rPr lang="en-GB" b="0" i="0" dirty="0" smtClean="0">
                <a:solidFill>
                  <a:srgbClr val="222222"/>
                </a:solidFill>
                <a:effectLst/>
                <a:latin typeface="Arial" panose="020B0604020202020204" pitchFamily="34" charset="0"/>
              </a:rPr>
              <a:t>The library needs to penalize late returns to encourage people to bring books back</a:t>
            </a:r>
          </a:p>
          <a:p>
            <a:r>
              <a:rPr lang="en-GB" b="0" i="0" dirty="0" smtClean="0">
                <a:solidFill>
                  <a:srgbClr val="222222"/>
                </a:solidFill>
                <a:effectLst/>
                <a:latin typeface="Arial" panose="020B0604020202020204" pitchFamily="34" charset="0"/>
              </a:rPr>
              <a:t/>
            </a:r>
            <a:br>
              <a:rPr lang="en-GB" b="0" i="0" dirty="0" smtClean="0">
                <a:solidFill>
                  <a:srgbClr val="222222"/>
                </a:solidFill>
                <a:effectLst/>
                <a:latin typeface="Arial" panose="020B0604020202020204" pitchFamily="34" charset="0"/>
              </a:rPr>
            </a:br>
            <a:r>
              <a:rPr lang="en-GB" b="0" i="0" dirty="0" smtClean="0">
                <a:solidFill>
                  <a:srgbClr val="222222"/>
                </a:solidFill>
                <a:effectLst/>
                <a:latin typeface="Arial" panose="020B0604020202020204" pitchFamily="34" charset="0"/>
              </a:rPr>
              <a:t>The system compares the current date against the due date stored in the transaction record. If the due date has passed, the database calculates a time based on set rules and links that balance directly to the members account.</a:t>
            </a:r>
          </a:p>
          <a:p>
            <a:r>
              <a:rPr lang="en-GB" b="0" i="0" dirty="0" smtClean="0">
                <a:solidFill>
                  <a:srgbClr val="222222"/>
                </a:solidFill>
                <a:effectLst/>
                <a:latin typeface="Arial" panose="020B0604020202020204" pitchFamily="34" charset="0"/>
              </a:rPr>
              <a:t/>
            </a:r>
            <a:br>
              <a:rPr lang="en-GB" b="0" i="0" dirty="0" smtClean="0">
                <a:solidFill>
                  <a:srgbClr val="222222"/>
                </a:solidFill>
                <a:effectLst/>
                <a:latin typeface="Arial" panose="020B0604020202020204" pitchFamily="34" charset="0"/>
              </a:rPr>
            </a:br>
            <a:endParaRPr lang="en-GB" b="0" i="0" dirty="0" smtClean="0">
              <a:solidFill>
                <a:srgbClr val="222222"/>
              </a:solidFill>
              <a:effectLst/>
              <a:latin typeface="Arial" panose="020B0604020202020204" pitchFamily="34" charset="0"/>
            </a:endParaRPr>
          </a:p>
          <a:p>
            <a:pPr algn="ctr"/>
            <a:r>
              <a:rPr lang="en-GB" sz="2000" b="1" i="0" dirty="0" smtClean="0">
                <a:solidFill>
                  <a:srgbClr val="222222"/>
                </a:solidFill>
                <a:effectLst/>
                <a:latin typeface="Arial" panose="020B0604020202020204" pitchFamily="34" charset="0"/>
              </a:rPr>
              <a:t>Controlling Access and user Roles</a:t>
            </a:r>
          </a:p>
          <a:p>
            <a:pPr algn="ctr"/>
            <a:endParaRPr lang="en-GB" sz="2000" b="1" i="0" dirty="0" smtClean="0">
              <a:solidFill>
                <a:srgbClr val="222222"/>
              </a:solidFill>
              <a:effectLst/>
              <a:latin typeface="Arial" panose="020B0604020202020204" pitchFamily="34" charset="0"/>
            </a:endParaRPr>
          </a:p>
          <a:p>
            <a:r>
              <a:rPr lang="en-GB" b="0" i="0" dirty="0" smtClean="0">
                <a:solidFill>
                  <a:srgbClr val="222222"/>
                </a:solidFill>
                <a:effectLst/>
                <a:latin typeface="Arial" panose="020B0604020202020204" pitchFamily="34" charset="0"/>
              </a:rPr>
              <a:t>Only staff Should be able to add new books or delete records, while regular members should only search and view their Own data.</a:t>
            </a:r>
          </a:p>
          <a:p>
            <a:r>
              <a:rPr lang="en-GB" b="0" i="0" dirty="0" smtClean="0">
                <a:solidFill>
                  <a:srgbClr val="222222"/>
                </a:solidFill>
                <a:effectLst/>
                <a:latin typeface="Arial" panose="020B0604020202020204" pitchFamily="34" charset="0"/>
              </a:rPr>
              <a:t/>
            </a:r>
            <a:br>
              <a:rPr lang="en-GB" b="0" i="0" dirty="0" smtClean="0">
                <a:solidFill>
                  <a:srgbClr val="222222"/>
                </a:solidFill>
                <a:effectLst/>
                <a:latin typeface="Arial" panose="020B0604020202020204" pitchFamily="34" charset="0"/>
              </a:rPr>
            </a:br>
            <a:r>
              <a:rPr lang="en-GB" b="0" i="0" dirty="0" smtClean="0">
                <a:solidFill>
                  <a:srgbClr val="222222"/>
                </a:solidFill>
                <a:effectLst/>
                <a:latin typeface="Arial" panose="020B0604020202020204" pitchFamily="34" charset="0"/>
              </a:rPr>
              <a:t>An admin or user table Stores hashed passwords and permission </a:t>
            </a:r>
            <a:r>
              <a:rPr lang="en-GB" b="0" i="0" dirty="0" err="1" smtClean="0">
                <a:solidFill>
                  <a:srgbClr val="222222"/>
                </a:solidFill>
                <a:effectLst/>
                <a:latin typeface="Arial" panose="020B0604020202020204" pitchFamily="34" charset="0"/>
              </a:rPr>
              <a:t>leves</a:t>
            </a:r>
            <a:r>
              <a:rPr lang="en-GB" b="0" i="0" dirty="0" smtClean="0">
                <a:solidFill>
                  <a:srgbClr val="222222"/>
                </a:solidFill>
                <a:effectLst/>
                <a:latin typeface="Arial" panose="020B0604020202020204" pitchFamily="34" charset="0"/>
              </a:rPr>
              <a:t>. When a user logs in, the system checks their assigned role before permitting specific actions.</a:t>
            </a:r>
          </a:p>
          <a:p>
            <a:r>
              <a:rPr lang="en-GB" b="0" i="0" dirty="0" smtClean="0">
                <a:solidFill>
                  <a:srgbClr val="222222"/>
                </a:solidFill>
                <a:effectLst/>
                <a:latin typeface="Arial" panose="020B0604020202020204" pitchFamily="34" charset="0"/>
              </a:rPr>
              <a:t/>
            </a:r>
            <a:br>
              <a:rPr lang="en-GB" b="0" i="0" dirty="0" smtClean="0">
                <a:solidFill>
                  <a:srgbClr val="222222"/>
                </a:solidFill>
                <a:effectLst/>
                <a:latin typeface="Arial" panose="020B0604020202020204" pitchFamily="34" charset="0"/>
              </a:rPr>
            </a:br>
            <a:endParaRPr lang="en-GB" b="0" i="0" dirty="0" smtClean="0">
              <a:solidFill>
                <a:srgbClr val="222222"/>
              </a:solidFill>
              <a:effectLst/>
              <a:latin typeface="Arial" panose="020B0604020202020204" pitchFamily="34" charset="0"/>
            </a:endParaRPr>
          </a:p>
          <a:p>
            <a:pPr algn="ctr"/>
            <a:r>
              <a:rPr lang="en-GB" sz="2000" b="1" i="0" dirty="0" smtClean="0">
                <a:solidFill>
                  <a:srgbClr val="222222"/>
                </a:solidFill>
                <a:effectLst/>
                <a:latin typeface="Arial" panose="020B0604020202020204" pitchFamily="34" charset="0"/>
              </a:rPr>
              <a:t>Generating Reports and Insights</a:t>
            </a:r>
          </a:p>
          <a:p>
            <a:endParaRPr lang="en-GB" b="0" i="0" dirty="0" smtClean="0">
              <a:solidFill>
                <a:srgbClr val="222222"/>
              </a:solidFill>
              <a:effectLst/>
              <a:latin typeface="Arial" panose="020B0604020202020204" pitchFamily="34" charset="0"/>
            </a:endParaRPr>
          </a:p>
          <a:p>
            <a:r>
              <a:rPr lang="en-GB" b="0" i="0" dirty="0" smtClean="0">
                <a:solidFill>
                  <a:srgbClr val="222222"/>
                </a:solidFill>
                <a:effectLst/>
                <a:latin typeface="Arial" panose="020B0604020202020204" pitchFamily="34" charset="0"/>
              </a:rPr>
              <a:t>Librarians need to See which books are popular and how many items are circulating to guide future purchases.</a:t>
            </a:r>
          </a:p>
          <a:p>
            <a:r>
              <a:rPr lang="en-GB" b="0" i="0" dirty="0" smtClean="0">
                <a:solidFill>
                  <a:srgbClr val="222222"/>
                </a:solidFill>
                <a:effectLst/>
                <a:latin typeface="Arial" panose="020B0604020202020204" pitchFamily="34" charset="0"/>
              </a:rPr>
              <a:t>The database runs aggregation queries across transaction history tables to summarize usage trends, popular genres, and overdue counts into clean reports.</a:t>
            </a:r>
          </a:p>
          <a:p>
            <a:r>
              <a:rPr lang="en-GB" dirty="0" smtClean="0"/>
              <a:t/>
            </a:r>
            <a:br>
              <a:rPr lang="en-GB" dirty="0" smtClean="0"/>
            </a:br>
            <a:endParaRPr lang="en-ZA" dirty="0"/>
          </a:p>
        </p:txBody>
      </p:sp>
    </p:spTree>
    <p:extLst>
      <p:ext uri="{BB962C8B-B14F-4D97-AF65-F5344CB8AC3E}">
        <p14:creationId xmlns:p14="http://schemas.microsoft.com/office/powerpoint/2010/main" val="3939224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9680" y="457200"/>
            <a:ext cx="10007600" cy="6001643"/>
          </a:xfrm>
          <a:prstGeom prst="rect">
            <a:avLst/>
          </a:prstGeom>
        </p:spPr>
        <p:txBody>
          <a:bodyPr wrap="square">
            <a:spAutoFit/>
          </a:bodyPr>
          <a:lstStyle/>
          <a:p>
            <a:pPr lvl="0" algn="ctr"/>
            <a:r>
              <a:rPr lang="en-GB" sz="2400" b="1" dirty="0">
                <a:solidFill>
                  <a:prstClr val="black"/>
                </a:solidFill>
                <a:latin typeface="Arial" panose="020B0604020202020204" pitchFamily="34" charset="0"/>
                <a:cs typeface="Arial" panose="020B0604020202020204" pitchFamily="34" charset="0"/>
              </a:rPr>
              <a:t>Data organisation</a:t>
            </a:r>
          </a:p>
          <a:p>
            <a:pPr lvl="0"/>
            <a:r>
              <a:rPr lang="en-GB" sz="2400" dirty="0">
                <a:solidFill>
                  <a:prstClr val="black"/>
                </a:solidFill>
                <a:latin typeface="Arial" panose="020B0604020202020204" pitchFamily="34" charset="0"/>
                <a:cs typeface="Arial" panose="020B0604020202020204" pitchFamily="34" charset="0"/>
              </a:rPr>
              <a:t>Stores books, members, and records in structured tables instead physical logbook.</a:t>
            </a:r>
          </a:p>
          <a:p>
            <a:pPr lvl="0"/>
            <a:r>
              <a:rPr lang="en-GB" sz="2400" dirty="0">
                <a:solidFill>
                  <a:prstClr val="black"/>
                </a:solidFill>
                <a:latin typeface="Arial" panose="020B0604020202020204" pitchFamily="34" charset="0"/>
                <a:cs typeface="Arial" panose="020B0604020202020204" pitchFamily="34" charset="0"/>
              </a:rPr>
              <a:t/>
            </a:r>
            <a:br>
              <a:rPr lang="en-GB" sz="2400" dirty="0">
                <a:solidFill>
                  <a:prstClr val="black"/>
                </a:solidFill>
                <a:latin typeface="Arial" panose="020B0604020202020204" pitchFamily="34" charset="0"/>
                <a:cs typeface="Arial" panose="020B0604020202020204" pitchFamily="34" charset="0"/>
              </a:rPr>
            </a:br>
            <a:endParaRPr lang="en-GB" sz="2400" dirty="0">
              <a:solidFill>
                <a:prstClr val="black"/>
              </a:solidFill>
              <a:latin typeface="Arial" panose="020B0604020202020204" pitchFamily="34" charset="0"/>
              <a:cs typeface="Arial" panose="020B0604020202020204" pitchFamily="34" charset="0"/>
            </a:endParaRPr>
          </a:p>
          <a:p>
            <a:pPr lvl="0" algn="ctr"/>
            <a:r>
              <a:rPr lang="en-GB" sz="2400" b="1" dirty="0">
                <a:solidFill>
                  <a:prstClr val="black"/>
                </a:solidFill>
                <a:latin typeface="Arial" panose="020B0604020202020204" pitchFamily="34" charset="0"/>
                <a:cs typeface="Arial" panose="020B0604020202020204" pitchFamily="34" charset="0"/>
              </a:rPr>
              <a:t>Data Integrity</a:t>
            </a:r>
          </a:p>
          <a:p>
            <a:pPr lvl="0"/>
            <a:r>
              <a:rPr lang="en-GB" sz="2400" dirty="0">
                <a:solidFill>
                  <a:prstClr val="black"/>
                </a:solidFill>
                <a:latin typeface="Arial" panose="020B0604020202020204" pitchFamily="34" charset="0"/>
                <a:cs typeface="Arial" panose="020B0604020202020204" pitchFamily="34" charset="0"/>
              </a:rPr>
              <a:t>Enforces rules so that book details, member IDs, and transaction dates stay accurate and error-free</a:t>
            </a:r>
          </a:p>
          <a:p>
            <a:pPr lvl="0"/>
            <a:endParaRPr lang="en-GB" sz="2400" dirty="0">
              <a:solidFill>
                <a:prstClr val="black"/>
              </a:solidFill>
              <a:latin typeface="Arial" panose="020B0604020202020204" pitchFamily="34" charset="0"/>
              <a:cs typeface="Arial" panose="020B0604020202020204" pitchFamily="34" charset="0"/>
            </a:endParaRPr>
          </a:p>
          <a:p>
            <a:pPr lvl="0" algn="ctr"/>
            <a:r>
              <a:rPr lang="en-GB" sz="2400" b="1" dirty="0">
                <a:solidFill>
                  <a:prstClr val="black"/>
                </a:solidFill>
                <a:latin typeface="Arial" panose="020B0604020202020204" pitchFamily="34" charset="0"/>
                <a:cs typeface="Arial" panose="020B0604020202020204" pitchFamily="34" charset="0"/>
              </a:rPr>
              <a:t>Automation</a:t>
            </a:r>
          </a:p>
          <a:p>
            <a:pPr lvl="0"/>
            <a:r>
              <a:rPr lang="en-GB" sz="2400" dirty="0">
                <a:solidFill>
                  <a:prstClr val="black"/>
                </a:solidFill>
                <a:latin typeface="Arial" panose="020B0604020202020204" pitchFamily="34" charset="0"/>
                <a:cs typeface="Arial" panose="020B0604020202020204" pitchFamily="34" charset="0"/>
              </a:rPr>
              <a:t>Handles routine tasks like calculating times or logging returns automatically</a:t>
            </a:r>
          </a:p>
          <a:p>
            <a:pPr lvl="0"/>
            <a:endParaRPr lang="en-GB" sz="2400" dirty="0">
              <a:solidFill>
                <a:prstClr val="black"/>
              </a:solidFill>
              <a:latin typeface="Arial" panose="020B0604020202020204" pitchFamily="34" charset="0"/>
              <a:cs typeface="Arial" panose="020B0604020202020204" pitchFamily="34" charset="0"/>
            </a:endParaRPr>
          </a:p>
          <a:p>
            <a:pPr lvl="0" algn="ctr"/>
            <a:r>
              <a:rPr lang="en-GB" sz="2400" b="1" dirty="0">
                <a:solidFill>
                  <a:prstClr val="black"/>
                </a:solidFill>
                <a:latin typeface="Arial" panose="020B0604020202020204" pitchFamily="34" charset="0"/>
                <a:cs typeface="Arial" panose="020B0604020202020204" pitchFamily="34" charset="0"/>
              </a:rPr>
              <a:t>Security</a:t>
            </a:r>
          </a:p>
          <a:p>
            <a:pPr lvl="0"/>
            <a:r>
              <a:rPr lang="en-GB" sz="2400" dirty="0">
                <a:solidFill>
                  <a:prstClr val="black"/>
                </a:solidFill>
                <a:latin typeface="Arial" panose="020B0604020202020204" pitchFamily="34" charset="0"/>
                <a:cs typeface="Arial" panose="020B0604020202020204" pitchFamily="34" charset="0"/>
              </a:rPr>
              <a:t>Uses login credentials and user roles to control who can edit or view sensitive records.</a:t>
            </a:r>
            <a:endParaRPr lang="en-GB" sz="24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4839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8330" y="401027"/>
            <a:ext cx="6096000" cy="3060197"/>
          </a:xfrm>
          <a:prstGeom prst="rect">
            <a:avLst/>
          </a:prstGeom>
        </p:spPr>
        <p:txBody>
          <a:bodyPr>
            <a:spAutoFit/>
          </a:bodyPr>
          <a:lstStyle/>
          <a:p>
            <a:pPr marL="228600" algn="ctr">
              <a:lnSpc>
                <a:spcPct val="107000"/>
              </a:lnSpc>
              <a:spcAft>
                <a:spcPts val="800"/>
              </a:spcAft>
            </a:pPr>
            <a:r>
              <a:rPr lang="en-ZA" sz="2400" dirty="0" smtClean="0">
                <a:effectLst/>
                <a:latin typeface="Calibri" panose="020F0502020204030204" pitchFamily="34" charset="0"/>
                <a:ea typeface="Calibri" panose="020F0502020204030204" pitchFamily="34" charset="0"/>
                <a:cs typeface="Times New Roman" panose="02020603050405020304" pitchFamily="18" charset="0"/>
              </a:rPr>
              <a:t>Client &amp; Reservation</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Client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must have a unique</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ClientID </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Client</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make many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Reservations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Reservation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must belong to one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Client</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Reservation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must have a unique</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ReservationID</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Reservation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must record 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Reservation Date</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Quantity</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Reservation</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be associated with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through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LibraryID</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ClientID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in 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Reservation</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table must reference an existing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Client</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r>
            <a:br>
              <a:rPr lang="en-ZA" sz="1600" dirty="0" smtClean="0">
                <a:effectLst/>
                <a:latin typeface="Calibri" panose="020F0502020204030204" pitchFamily="34" charset="0"/>
                <a:ea typeface="Calibri" panose="020F0502020204030204" pitchFamily="34" charset="0"/>
                <a:cs typeface="Times New Roman" panose="02020603050405020304" pitchFamily="18" charset="0"/>
              </a:rPr>
            </a:br>
            <a:endParaRPr lang="en-ZA" dirty="0"/>
          </a:p>
        </p:txBody>
      </p:sp>
      <p:sp>
        <p:nvSpPr>
          <p:cNvPr id="3" name="Rectangle 2"/>
          <p:cNvSpPr/>
          <p:nvPr/>
        </p:nvSpPr>
        <p:spPr>
          <a:xfrm>
            <a:off x="3143794" y="3983739"/>
            <a:ext cx="6096000" cy="2153666"/>
          </a:xfrm>
          <a:prstGeom prst="rect">
            <a:avLst/>
          </a:prstGeom>
        </p:spPr>
        <p:txBody>
          <a:bodyPr>
            <a:spAutoFit/>
          </a:bodyPr>
          <a:lstStyle/>
          <a:p>
            <a:pPr marL="228600" algn="ctr">
              <a:lnSpc>
                <a:spcPct val="107000"/>
              </a:lnSpc>
              <a:spcAft>
                <a:spcPts val="0"/>
              </a:spcAft>
            </a:pPr>
            <a:r>
              <a:rPr lang="en-ZA" sz="2400" dirty="0" smtClean="0">
                <a:effectLst/>
                <a:latin typeface="Calibri" panose="020F0502020204030204" pitchFamily="34" charset="0"/>
                <a:ea typeface="Calibri" panose="020F0502020204030204" pitchFamily="34" charset="0"/>
                <a:cs typeface="Times New Roman" panose="02020603050405020304" pitchFamily="18" charset="0"/>
              </a:rPr>
              <a:t>Book &amp; Library</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store many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have a unique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BookID</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belong to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record must contain the book’s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Title</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ISBN</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Publisher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Edition</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No Of Pages</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Price</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LibraryID</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in 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reference an existing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endParaRPr lang="en-ZA" dirty="0"/>
          </a:p>
        </p:txBody>
      </p:sp>
    </p:spTree>
    <p:extLst>
      <p:ext uri="{BB962C8B-B14F-4D97-AF65-F5344CB8AC3E}">
        <p14:creationId xmlns:p14="http://schemas.microsoft.com/office/powerpoint/2010/main" val="7774043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69623" y="505079"/>
            <a:ext cx="6096000" cy="2068323"/>
          </a:xfrm>
          <a:prstGeom prst="rect">
            <a:avLst/>
          </a:prstGeom>
        </p:spPr>
        <p:txBody>
          <a:bodyPr>
            <a:spAutoFit/>
          </a:bodyPr>
          <a:lstStyle/>
          <a:p>
            <a:pPr marL="228600" algn="ctr">
              <a:lnSpc>
                <a:spcPct val="107000"/>
              </a:lnSpc>
              <a:spcAft>
                <a:spcPts val="0"/>
              </a:spcAft>
            </a:pPr>
            <a:r>
              <a:rPr lang="en-ZA" sz="2400" dirty="0" smtClean="0">
                <a:effectLst/>
                <a:latin typeface="Calibri" panose="020F0502020204030204" pitchFamily="34" charset="0"/>
                <a:ea typeface="Calibri" panose="020F0502020204030204" pitchFamily="34" charset="0"/>
                <a:cs typeface="Times New Roman" panose="02020603050405020304" pitchFamily="18" charset="0"/>
              </a:rPr>
              <a:t>Book &amp; Library</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store many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have a unique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BookID</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belong to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record must contain the book’s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Title</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ISBN</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Publisher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Edition</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No Of Pages</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Price</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LibraryID</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in 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reference an existing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2969623" y="3332048"/>
            <a:ext cx="6096000" cy="2858731"/>
          </a:xfrm>
          <a:prstGeom prst="rect">
            <a:avLst/>
          </a:prstGeom>
        </p:spPr>
        <p:txBody>
          <a:bodyPr>
            <a:spAutoFit/>
          </a:bodyPr>
          <a:lstStyle/>
          <a:p>
            <a:pPr marL="228600" algn="ctr">
              <a:lnSpc>
                <a:spcPct val="107000"/>
              </a:lnSpc>
              <a:spcAft>
                <a:spcPts val="0"/>
              </a:spcAft>
            </a:pPr>
            <a:r>
              <a:rPr lang="en-ZA" sz="2400" dirty="0" smtClean="0">
                <a:effectLst/>
                <a:latin typeface="Calibri" panose="020F0502020204030204" pitchFamily="34" charset="0"/>
                <a:ea typeface="Calibri" panose="020F0502020204030204" pitchFamily="34" charset="0"/>
                <a:cs typeface="Times New Roman" panose="02020603050405020304" pitchFamily="18" charset="0"/>
              </a:rPr>
              <a:t>Book &amp; Author</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have one or more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Authors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An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Author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write one or more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BookAuthor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table must be recorded in the relationship between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Books</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Authors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record in the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BookAuthor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reference an existing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an existing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BookAuthor</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combination of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BookID</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and</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AuthorID</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must be unique to prevent the same</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err="1" smtClean="0">
                <a:effectLst/>
                <a:latin typeface="Calibri" panose="020F0502020204030204" pitchFamily="34" charset="0"/>
                <a:ea typeface="Calibri" panose="020F0502020204030204" pitchFamily="34" charset="0"/>
                <a:cs typeface="Times New Roman" panose="02020603050405020304" pitchFamily="18" charset="0"/>
              </a:rPr>
              <a:t>BookAuthor</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relationship from being recorded more than once  </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02428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904142"/>
            <a:ext cx="6096000" cy="5049716"/>
          </a:xfrm>
          <a:prstGeom prst="rect">
            <a:avLst/>
          </a:prstGeom>
        </p:spPr>
        <p:txBody>
          <a:bodyPr>
            <a:spAutoFit/>
          </a:bodyPr>
          <a:lstStyle/>
          <a:p>
            <a:pPr indent="457200" algn="ctr">
              <a:lnSpc>
                <a:spcPct val="107000"/>
              </a:lnSpc>
              <a:spcAft>
                <a:spcPts val="800"/>
              </a:spcAft>
            </a:pPr>
            <a:r>
              <a:rPr lang="en-ZA" sz="2400" dirty="0" smtClean="0">
                <a:effectLst/>
                <a:latin typeface="Calibri" panose="020F0502020204030204" pitchFamily="34" charset="0"/>
                <a:ea typeface="Calibri" panose="020F0502020204030204" pitchFamily="34" charset="0"/>
                <a:cs typeface="Times New Roman" panose="02020603050405020304" pitchFamily="18" charset="0"/>
              </a:rPr>
              <a:t>Library and Staff</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employ many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Staff Members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Staff Member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work at one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Staff Member</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record must contain their home and Email Address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LibraryID</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in 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Staff</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table must reference an existing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store many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Books</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457200">
              <a:lnSpc>
                <a:spcPct val="107000"/>
              </a:lnSpc>
              <a:spcAft>
                <a:spcPts val="800"/>
              </a:spcAft>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indent="457200" algn="ctr">
              <a:lnSpc>
                <a:spcPct val="107000"/>
              </a:lnSpc>
              <a:spcAft>
                <a:spcPts val="800"/>
              </a:spcAft>
            </a:pPr>
            <a:r>
              <a:rPr lang="en-ZA" sz="2400" dirty="0" smtClean="0">
                <a:effectLst/>
                <a:latin typeface="Calibri" panose="020F0502020204030204" pitchFamily="34" charset="0"/>
                <a:ea typeface="Calibri" panose="020F0502020204030204" pitchFamily="34" charset="0"/>
                <a:cs typeface="Times New Roman" panose="02020603050405020304" pitchFamily="18" charset="0"/>
              </a:rPr>
              <a:t>Library and Book</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 store many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Books</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Each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must be assigned to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Book</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cannot be assigned to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that does not exist in the database</a:t>
            </a:r>
            <a:endParaRPr lang="en-ZA" sz="1100" dirty="0" smtClean="0">
              <a:effectLst/>
              <a:latin typeface="Calibri" panose="020F0502020204030204" pitchFamily="34" charset="0"/>
              <a:ea typeface="Calibri" panose="020F0502020204030204" pitchFamily="34" charset="0"/>
              <a:cs typeface="Times New Roman" panose="02020603050405020304" pitchFamily="18" charset="0"/>
            </a:endParaRPr>
          </a:p>
          <a:p>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has a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Name</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Address</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and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Phone Number </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which should be recorded in the </a:t>
            </a:r>
            <a:r>
              <a:rPr lang="en-ZA" sz="1600" b="1" dirty="0" smtClean="0">
                <a:effectLst/>
                <a:latin typeface="Calibri" panose="020F0502020204030204" pitchFamily="34" charset="0"/>
                <a:ea typeface="Calibri" panose="020F0502020204030204" pitchFamily="34" charset="0"/>
                <a:cs typeface="Times New Roman" panose="02020603050405020304" pitchFamily="18" charset="0"/>
              </a:rPr>
              <a:t>Library</a:t>
            </a:r>
            <a:r>
              <a:rPr lang="en-ZA" sz="1600" dirty="0" smtClean="0">
                <a:effectLst/>
                <a:latin typeface="Calibri" panose="020F0502020204030204" pitchFamily="34" charset="0"/>
                <a:ea typeface="Calibri" panose="020F0502020204030204" pitchFamily="34" charset="0"/>
                <a:cs typeface="Times New Roman" panose="02020603050405020304" pitchFamily="18" charset="0"/>
              </a:rPr>
              <a:t> table</a:t>
            </a:r>
            <a:endParaRPr lang="en-ZA" dirty="0"/>
          </a:p>
        </p:txBody>
      </p:sp>
    </p:spTree>
    <p:extLst>
      <p:ext uri="{BB962C8B-B14F-4D97-AF65-F5344CB8AC3E}">
        <p14:creationId xmlns:p14="http://schemas.microsoft.com/office/powerpoint/2010/main" val="29598104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39063123"/>
              </p:ext>
            </p:extLst>
          </p:nvPr>
        </p:nvGraphicFramePr>
        <p:xfrm>
          <a:off x="2717073" y="1240722"/>
          <a:ext cx="6757854" cy="3474969"/>
        </p:xfrm>
        <a:graphic>
          <a:graphicData uri="http://schemas.openxmlformats.org/drawingml/2006/table">
            <a:tbl>
              <a:tblPr firstRow="1" firstCol="1" bandRow="1"/>
              <a:tblGrid>
                <a:gridCol w="965408"/>
                <a:gridCol w="965408"/>
                <a:gridCol w="965408"/>
                <a:gridCol w="934997"/>
                <a:gridCol w="995817"/>
                <a:gridCol w="965408"/>
                <a:gridCol w="965408"/>
              </a:tblGrid>
              <a:tr h="547230">
                <a:tc>
                  <a:txBody>
                    <a:bodyPr/>
                    <a:lstStyle/>
                    <a:p>
                      <a:pPr algn="ctr">
                        <a:lnSpc>
                          <a:spcPct val="107000"/>
                        </a:lnSpc>
                        <a:spcAft>
                          <a:spcPts val="0"/>
                        </a:spcAft>
                      </a:pPr>
                      <a:r>
                        <a:rPr lang="en-ZA" sz="1400" b="1" dirty="0">
                          <a:effectLst/>
                          <a:latin typeface="Calibri" panose="020F0502020204030204" pitchFamily="34" charset="0"/>
                          <a:ea typeface="Calibri" panose="020F0502020204030204" pitchFamily="34" charset="0"/>
                          <a:cs typeface="Times New Roman" panose="02020603050405020304" pitchFamily="18" charset="0"/>
                        </a:rPr>
                        <a:t>Client</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BookID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Title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ReservationDate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Author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Library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Staff Member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723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Leo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7269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SQL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0018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V.Zulu</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The Book Garden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Basetsana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723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Mpho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5432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Food For Life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0019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A.Lennox</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VUT Library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Ayanda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723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Andile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9171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Sergio The Lover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0020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S.Mtshali</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Sebokeng Library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Mulaudzi</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20845">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Sanele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7145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Love Conquers All</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0020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L.Harvard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Books For All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George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5204">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Anele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4589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IT Law</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0021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B.Phikwayo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Just Books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Tshepo</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Rectangle 5"/>
          <p:cNvSpPr/>
          <p:nvPr/>
        </p:nvSpPr>
        <p:spPr>
          <a:xfrm>
            <a:off x="4144921" y="491575"/>
            <a:ext cx="3902158" cy="584775"/>
          </a:xfrm>
          <a:prstGeom prst="rect">
            <a:avLst/>
          </a:prstGeom>
        </p:spPr>
        <p:txBody>
          <a:bodyPr wrap="none">
            <a:spAutoFit/>
          </a:bodyPr>
          <a:lstStyle/>
          <a:p>
            <a:r>
              <a:rPr lang="en-ZA" sz="3200" b="1" dirty="0" smtClean="0">
                <a:effectLst/>
                <a:latin typeface="Calibri" panose="020F0502020204030204" pitchFamily="34" charset="0"/>
                <a:ea typeface="Calibri" panose="020F0502020204030204" pitchFamily="34" charset="0"/>
                <a:cs typeface="Times New Roman" panose="02020603050405020304" pitchFamily="18" charset="0"/>
              </a:rPr>
              <a:t>FIRST NORMAL FORM</a:t>
            </a:r>
            <a:endParaRPr lang="en-ZA" sz="3200" dirty="0"/>
          </a:p>
        </p:txBody>
      </p:sp>
      <p:sp>
        <p:nvSpPr>
          <p:cNvPr id="7" name="Rectangle 6"/>
          <p:cNvSpPr/>
          <p:nvPr/>
        </p:nvSpPr>
        <p:spPr>
          <a:xfrm>
            <a:off x="2878182" y="5044434"/>
            <a:ext cx="6435636" cy="1002775"/>
          </a:xfrm>
          <a:prstGeom prst="rect">
            <a:avLst/>
          </a:prstGeom>
        </p:spPr>
        <p:txBody>
          <a:bodyPr wrap="square">
            <a:spAutoFit/>
          </a:bodyPr>
          <a:lstStyle/>
          <a:p>
            <a:pPr algn="ctr">
              <a:lnSpc>
                <a:spcPct val="107000"/>
              </a:lnSpc>
              <a:spcAft>
                <a:spcPts val="800"/>
              </a:spcAft>
            </a:pPr>
            <a:r>
              <a:rPr lang="en-ZA" sz="1400" b="1" dirty="0" smtClean="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The first table is in first normal form because it contains atomic values. Looking at the 1NF table all columns contain a single value keeping everything in a single table causing massive data redundancy and anomalies.</a:t>
            </a:r>
            <a:endParaRPr lang="en-ZA" sz="11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99824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47293924"/>
              </p:ext>
            </p:extLst>
          </p:nvPr>
        </p:nvGraphicFramePr>
        <p:xfrm>
          <a:off x="531224" y="966653"/>
          <a:ext cx="10946676" cy="3735978"/>
        </p:xfrm>
        <a:graphic>
          <a:graphicData uri="http://schemas.openxmlformats.org/drawingml/2006/table">
            <a:tbl>
              <a:tblPr firstRow="1" firstCol="1" bandRow="1"/>
              <a:tblGrid>
                <a:gridCol w="2736669"/>
                <a:gridCol w="2736669"/>
                <a:gridCol w="2736669"/>
                <a:gridCol w="2736669"/>
              </a:tblGrid>
              <a:tr h="622663">
                <a:tc>
                  <a:txBody>
                    <a:bodyPr/>
                    <a:lstStyle/>
                    <a:p>
                      <a:pPr algn="ctr">
                        <a:lnSpc>
                          <a:spcPct val="107000"/>
                        </a:lnSpc>
                        <a:spcAft>
                          <a:spcPts val="0"/>
                        </a:spcAft>
                      </a:pPr>
                      <a:r>
                        <a:rPr lang="en-ZA" sz="1400" b="1" dirty="0">
                          <a:effectLst/>
                          <a:latin typeface="Calibri" panose="020F0502020204030204" pitchFamily="34" charset="0"/>
                          <a:ea typeface="Calibri" panose="020F0502020204030204" pitchFamily="34" charset="0"/>
                          <a:cs typeface="Times New Roman" panose="02020603050405020304" pitchFamily="18" charset="0"/>
                        </a:rPr>
                        <a:t>Library Name</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Location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Phone No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Staff Member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663">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The Book Garden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Brakpan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0114567891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Basetsana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663">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VUT Library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Vanderbijlpark</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0213452956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Ayanda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663">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Sebokeng Library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Sebokeng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0112349876</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Mulaudzi</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663">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Books For All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Vereeniging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0129823480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George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663">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Just Books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Krugersdorp</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0119126732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Tshepo</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3298449" y="326661"/>
            <a:ext cx="4393319" cy="595932"/>
          </a:xfrm>
          <a:prstGeom prst="rect">
            <a:avLst/>
          </a:prstGeom>
        </p:spPr>
        <p:txBody>
          <a:bodyPr wrap="none">
            <a:spAutoFit/>
          </a:bodyPr>
          <a:lstStyle/>
          <a:p>
            <a:pPr algn="ctr">
              <a:lnSpc>
                <a:spcPct val="107000"/>
              </a:lnSpc>
              <a:spcAft>
                <a:spcPts val="800"/>
              </a:spcAft>
            </a:pPr>
            <a:r>
              <a:rPr lang="en-ZA" sz="3200" b="1" dirty="0" smtClean="0">
                <a:effectLst/>
                <a:latin typeface="Calibri" panose="020F0502020204030204" pitchFamily="34" charset="0"/>
                <a:ea typeface="Calibri" panose="020F0502020204030204" pitchFamily="34" charset="0"/>
                <a:cs typeface="Times New Roman" panose="02020603050405020304" pitchFamily="18" charset="0"/>
              </a:rPr>
              <a:t>SECOND NORMAL FORM</a:t>
            </a:r>
            <a:endParaRPr lang="en-ZA"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956562" y="5044657"/>
            <a:ext cx="6096000" cy="1463799"/>
          </a:xfrm>
          <a:prstGeom prst="rect">
            <a:avLst/>
          </a:prstGeom>
        </p:spPr>
        <p:txBody>
          <a:bodyPr>
            <a:spAutoFit/>
          </a:bodyPr>
          <a:lstStyle/>
          <a:p>
            <a:pPr algn="ctr">
              <a:lnSpc>
                <a:spcPct val="107000"/>
              </a:lnSpc>
              <a:spcAft>
                <a:spcPts val="800"/>
              </a:spcAft>
            </a:pPr>
            <a:r>
              <a:rPr lang="en-ZA" sz="1400" b="1" dirty="0" smtClean="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The following tables are in second normal from. We say this because there is no partial dependencies meaning all non-keyed attributes must be fully dependent on the entire Primary Key for example (Title, ISBN, Edition, and Author) is entirely dependent on Book ID. Also (Location, Phone number and Staff Member) are dependent on the Library.</a:t>
            </a:r>
            <a:endParaRPr lang="en-ZA" sz="11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17978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54135878"/>
              </p:ext>
            </p:extLst>
          </p:nvPr>
        </p:nvGraphicFramePr>
        <p:xfrm>
          <a:off x="2238101" y="1178307"/>
          <a:ext cx="7410997" cy="1692842"/>
        </p:xfrm>
        <a:graphic>
          <a:graphicData uri="http://schemas.openxmlformats.org/drawingml/2006/table">
            <a:tbl>
              <a:tblPr firstRow="1" firstCol="1" bandRow="1"/>
              <a:tblGrid>
                <a:gridCol w="1482035"/>
                <a:gridCol w="1482035"/>
                <a:gridCol w="1482035"/>
                <a:gridCol w="1482035"/>
                <a:gridCol w="1482857"/>
              </a:tblGrid>
              <a:tr h="280689">
                <a:tc>
                  <a:txBody>
                    <a:bodyPr/>
                    <a:lstStyle/>
                    <a:p>
                      <a:pPr algn="ctr">
                        <a:lnSpc>
                          <a:spcPct val="107000"/>
                        </a:lnSpc>
                        <a:spcAft>
                          <a:spcPts val="0"/>
                        </a:spcAft>
                      </a:pPr>
                      <a:r>
                        <a:rPr lang="en-ZA" sz="1400" b="1" dirty="0">
                          <a:effectLst/>
                          <a:latin typeface="Calibri" panose="020F0502020204030204" pitchFamily="34" charset="0"/>
                          <a:ea typeface="Calibri" panose="020F0502020204030204" pitchFamily="34" charset="0"/>
                          <a:cs typeface="Times New Roman" panose="02020603050405020304" pitchFamily="18" charset="0"/>
                        </a:rPr>
                        <a:t>ClientID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First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Last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Phone No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Address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89">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7269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Leo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Brown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065 116 9781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Vanderbijlpark</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89">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5432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Mpho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Thabethe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079 806 8981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Evaton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89">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9171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err="1">
                          <a:effectLst/>
                          <a:latin typeface="Calibri" panose="020F0502020204030204" pitchFamily="34" charset="0"/>
                          <a:ea typeface="Calibri" panose="020F0502020204030204" pitchFamily="34" charset="0"/>
                          <a:cs typeface="Times New Roman" panose="02020603050405020304" pitchFamily="18" charset="0"/>
                        </a:rPr>
                        <a:t>Andile</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Magwaza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073 900 2280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Vanderbijlpark</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0689">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7145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Sanele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Mthethwa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078 935 1234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Sebokeng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9397">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4589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Anele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Mbanjwa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069 123 0945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Krugersdorp</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3" name="Rectangle 2"/>
          <p:cNvSpPr/>
          <p:nvPr/>
        </p:nvSpPr>
        <p:spPr>
          <a:xfrm>
            <a:off x="2551612" y="148666"/>
            <a:ext cx="6096000" cy="1029641"/>
          </a:xfrm>
          <a:prstGeom prst="rect">
            <a:avLst/>
          </a:prstGeom>
        </p:spPr>
        <p:txBody>
          <a:bodyPr>
            <a:spAutoFit/>
          </a:bodyPr>
          <a:lstStyle/>
          <a:p>
            <a:pPr algn="ctr">
              <a:lnSpc>
                <a:spcPct val="107000"/>
              </a:lnSpc>
              <a:spcAft>
                <a:spcPts val="800"/>
              </a:spcAft>
            </a:pPr>
            <a:r>
              <a:rPr lang="en-ZA" sz="3200" b="1" dirty="0" smtClean="0">
                <a:effectLst/>
                <a:latin typeface="Calibri" panose="020F0502020204030204" pitchFamily="34" charset="0"/>
                <a:ea typeface="Calibri" panose="020F0502020204030204" pitchFamily="34" charset="0"/>
                <a:cs typeface="Times New Roman" panose="02020603050405020304" pitchFamily="18" charset="0"/>
              </a:rPr>
              <a:t>THIRD NORMAL FORM</a:t>
            </a:r>
            <a:endParaRPr lang="en-ZA" sz="32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CLIENT</a:t>
            </a:r>
            <a:endParaRPr lang="en-ZA" dirty="0"/>
          </a:p>
        </p:txBody>
      </p:sp>
      <p:sp>
        <p:nvSpPr>
          <p:cNvPr id="4" name="Rectangle 3"/>
          <p:cNvSpPr/>
          <p:nvPr/>
        </p:nvSpPr>
        <p:spPr>
          <a:xfrm>
            <a:off x="5191487" y="3218173"/>
            <a:ext cx="816249" cy="421654"/>
          </a:xfrm>
          <a:prstGeom prst="rect">
            <a:avLst/>
          </a:prstGeom>
        </p:spPr>
        <p:txBody>
          <a:bodyPr wrap="none">
            <a:spAutoFit/>
          </a:bodyPr>
          <a:lstStyle/>
          <a:p>
            <a:pPr algn="ctr">
              <a:lnSpc>
                <a:spcPct val="107000"/>
              </a:lnSpc>
              <a:spcAft>
                <a:spcPts val="800"/>
              </a:spcAft>
            </a:pPr>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BOOK</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280855686"/>
              </p:ext>
            </p:extLst>
          </p:nvPr>
        </p:nvGraphicFramePr>
        <p:xfrm>
          <a:off x="2238101" y="3639827"/>
          <a:ext cx="7410996" cy="2054544"/>
        </p:xfrm>
        <a:graphic>
          <a:graphicData uri="http://schemas.openxmlformats.org/drawingml/2006/table">
            <a:tbl>
              <a:tblPr firstRow="1" firstCol="1" bandRow="1"/>
              <a:tblGrid>
                <a:gridCol w="1030766"/>
                <a:gridCol w="1069400"/>
                <a:gridCol w="1015148"/>
                <a:gridCol w="1258456"/>
                <a:gridCol w="1028300"/>
                <a:gridCol w="1010217"/>
                <a:gridCol w="998709"/>
              </a:tblGrid>
              <a:tr h="0">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BookID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Title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ISBN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Publisher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Edition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No Of Pages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Price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2714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SQL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2449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V.Zulu</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a:t>
                      </a:r>
                      <a:r>
                        <a:rPr lang="en-ZA" sz="1400" baseline="30000">
                          <a:effectLst/>
                          <a:latin typeface="Calibri" panose="020F0502020204030204" pitchFamily="34" charset="0"/>
                          <a:ea typeface="Calibri" panose="020F0502020204030204" pitchFamily="34" charset="0"/>
                          <a:cs typeface="Times New Roman" panose="02020603050405020304" pitchFamily="18" charset="0"/>
                        </a:rPr>
                        <a:t>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100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250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2651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Food For Life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1246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A.Lennox</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a:t>
                      </a:r>
                      <a:r>
                        <a:rPr lang="en-ZA" sz="1400" baseline="30000">
                          <a:effectLst/>
                          <a:latin typeface="Calibri" panose="020F0502020204030204" pitchFamily="34" charset="0"/>
                          <a:ea typeface="Calibri" panose="020F0502020204030204" pitchFamily="34" charset="0"/>
                          <a:cs typeface="Times New Roman" panose="02020603050405020304" pitchFamily="18" charset="0"/>
                        </a:rPr>
                        <a:t>nd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70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150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25789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Sergio The Lover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23698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S.Mtshali</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a:t>
                      </a:r>
                      <a:r>
                        <a:rPr lang="en-ZA" sz="1400" baseline="30000">
                          <a:effectLst/>
                          <a:latin typeface="Calibri" panose="020F0502020204030204" pitchFamily="34" charset="0"/>
                          <a:ea typeface="Calibri" panose="020F0502020204030204" pitchFamily="34" charset="0"/>
                          <a:cs typeface="Times New Roman" panose="02020603050405020304" pitchFamily="18" charset="0"/>
                        </a:rPr>
                        <a:t>nd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100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250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3672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Love Conquers All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7512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L.Harvard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3</a:t>
                      </a:r>
                      <a:r>
                        <a:rPr lang="en-ZA" sz="1400" baseline="30000">
                          <a:effectLst/>
                          <a:latin typeface="Calibri" panose="020F0502020204030204" pitchFamily="34" charset="0"/>
                          <a:ea typeface="Calibri" panose="020F0502020204030204" pitchFamily="34" charset="0"/>
                          <a:cs typeface="Times New Roman" panose="02020603050405020304" pitchFamily="18" charset="0"/>
                        </a:rPr>
                        <a:t>rd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90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20132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IT Law</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1290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B.Phikwayo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a:t>
                      </a:r>
                      <a:r>
                        <a:rPr lang="en-ZA" sz="1400" baseline="30000">
                          <a:effectLst/>
                          <a:latin typeface="Calibri" panose="020F0502020204030204" pitchFamily="34" charset="0"/>
                          <a:ea typeface="Calibri" panose="020F0502020204030204" pitchFamily="34" charset="0"/>
                          <a:cs typeface="Times New Roman" panose="02020603050405020304" pitchFamily="18" charset="0"/>
                        </a:rPr>
                        <a:t>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340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300</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1068288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8559" y="135339"/>
            <a:ext cx="1650515" cy="421654"/>
          </a:xfrm>
          <a:prstGeom prst="rect">
            <a:avLst/>
          </a:prstGeom>
        </p:spPr>
        <p:txBody>
          <a:bodyPr wrap="none">
            <a:spAutoFit/>
          </a:bodyPr>
          <a:lstStyle/>
          <a:p>
            <a:pPr algn="ctr">
              <a:lnSpc>
                <a:spcPct val="107000"/>
              </a:lnSpc>
              <a:spcAft>
                <a:spcPts val="800"/>
              </a:spcAft>
            </a:pPr>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RESERVATION</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940237551"/>
              </p:ext>
            </p:extLst>
          </p:nvPr>
        </p:nvGraphicFramePr>
        <p:xfrm>
          <a:off x="1375954" y="677747"/>
          <a:ext cx="8508274" cy="1369698"/>
        </p:xfrm>
        <a:graphic>
          <a:graphicData uri="http://schemas.openxmlformats.org/drawingml/2006/table">
            <a:tbl>
              <a:tblPr firstRow="1" firstCol="1" bandRow="1"/>
              <a:tblGrid>
                <a:gridCol w="2835777"/>
                <a:gridCol w="2835777"/>
                <a:gridCol w="2836720"/>
              </a:tblGrid>
              <a:tr h="0">
                <a:tc>
                  <a:txBody>
                    <a:bodyPr/>
                    <a:lstStyle/>
                    <a:p>
                      <a:pPr algn="ctr">
                        <a:lnSpc>
                          <a:spcPct val="107000"/>
                        </a:lnSpc>
                        <a:spcAft>
                          <a:spcPts val="0"/>
                        </a:spcAft>
                      </a:pPr>
                      <a:r>
                        <a:rPr lang="en-ZA" sz="1400" b="1" dirty="0">
                          <a:effectLst/>
                          <a:latin typeface="Calibri" panose="020F0502020204030204" pitchFamily="34" charset="0"/>
                          <a:ea typeface="Calibri" panose="020F0502020204030204" pitchFamily="34" charset="0"/>
                          <a:cs typeface="Times New Roman" panose="02020603050405020304" pitchFamily="18" charset="0"/>
                        </a:rPr>
                        <a:t>ReservationID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Date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Quantity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0018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2026-10-12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0019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2026-10-19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0020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2026-10-20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0021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2026-10-25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0022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2026-10-25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1</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Rectangle 3"/>
          <p:cNvSpPr/>
          <p:nvPr/>
        </p:nvSpPr>
        <p:spPr>
          <a:xfrm>
            <a:off x="5075868" y="2540968"/>
            <a:ext cx="1108445" cy="400110"/>
          </a:xfrm>
          <a:prstGeom prst="rect">
            <a:avLst/>
          </a:prstGeom>
        </p:spPr>
        <p:txBody>
          <a:bodyPr wrap="none">
            <a:spAutoFit/>
          </a:bodyPr>
          <a:lstStyle/>
          <a:p>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AUTHOR</a:t>
            </a:r>
            <a:endParaRPr lang="en-ZA" dirty="0"/>
          </a:p>
        </p:txBody>
      </p:sp>
      <p:graphicFrame>
        <p:nvGraphicFramePr>
          <p:cNvPr id="5" name="Table 4"/>
          <p:cNvGraphicFramePr>
            <a:graphicFrameLocks noGrp="1"/>
          </p:cNvGraphicFramePr>
          <p:nvPr>
            <p:extLst>
              <p:ext uri="{D42A27DB-BD31-4B8C-83A1-F6EECF244321}">
                <p14:modId xmlns:p14="http://schemas.microsoft.com/office/powerpoint/2010/main" val="788586885"/>
              </p:ext>
            </p:extLst>
          </p:nvPr>
        </p:nvGraphicFramePr>
        <p:xfrm>
          <a:off x="1375953" y="3081314"/>
          <a:ext cx="8508275" cy="1369698"/>
        </p:xfrm>
        <a:graphic>
          <a:graphicData uri="http://schemas.openxmlformats.org/drawingml/2006/table">
            <a:tbl>
              <a:tblPr firstRow="1" firstCol="1" bandRow="1"/>
              <a:tblGrid>
                <a:gridCol w="2835777"/>
                <a:gridCol w="2835777"/>
                <a:gridCol w="2836721"/>
              </a:tblGrid>
              <a:tr h="0">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AuthorID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First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Last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2468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Shaun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Ndlovu</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2364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Victoria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Zulu</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1292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Anne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Lennox</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3519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Quinton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Jones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1992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John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Stones</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9758882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42591" y="205008"/>
            <a:ext cx="1079206" cy="421654"/>
          </a:xfrm>
          <a:prstGeom prst="rect">
            <a:avLst/>
          </a:prstGeom>
        </p:spPr>
        <p:txBody>
          <a:bodyPr wrap="none">
            <a:spAutoFit/>
          </a:bodyPr>
          <a:lstStyle/>
          <a:p>
            <a:pPr algn="ctr">
              <a:lnSpc>
                <a:spcPct val="107000"/>
              </a:lnSpc>
              <a:spcAft>
                <a:spcPts val="800"/>
              </a:spcAft>
            </a:pPr>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LIBRARY</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053544312"/>
              </p:ext>
            </p:extLst>
          </p:nvPr>
        </p:nvGraphicFramePr>
        <p:xfrm>
          <a:off x="1550126" y="764834"/>
          <a:ext cx="7994468" cy="1369698"/>
        </p:xfrm>
        <a:graphic>
          <a:graphicData uri="http://schemas.openxmlformats.org/drawingml/2006/table">
            <a:tbl>
              <a:tblPr firstRow="1" firstCol="1" bandRow="1"/>
              <a:tblGrid>
                <a:gridCol w="1998617"/>
                <a:gridCol w="1998617"/>
                <a:gridCol w="1998617"/>
                <a:gridCol w="1998617"/>
              </a:tblGrid>
              <a:tr h="0">
                <a:tc>
                  <a:txBody>
                    <a:bodyPr/>
                    <a:lstStyle/>
                    <a:p>
                      <a:pPr algn="ctr">
                        <a:lnSpc>
                          <a:spcPct val="107000"/>
                        </a:lnSpc>
                        <a:spcAft>
                          <a:spcPts val="0"/>
                        </a:spcAft>
                      </a:pPr>
                      <a:r>
                        <a:rPr lang="en-ZA" sz="1400" b="1" dirty="0">
                          <a:effectLst/>
                          <a:latin typeface="Calibri" panose="020F0502020204030204" pitchFamily="34" charset="0"/>
                          <a:ea typeface="Calibri" panose="020F0502020204030204" pitchFamily="34" charset="0"/>
                          <a:cs typeface="Times New Roman" panose="02020603050405020304" pitchFamily="18" charset="0"/>
                        </a:rPr>
                        <a:t>LibraryID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Names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Address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Phone No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2011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The Book Garden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Brakpan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011 456 7891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1924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VUT Library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Vaal University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021 345 2956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2423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Sebokeng Library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Sebokeng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011 234 9876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2112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Books For All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Vereeniging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012 982 3480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1905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Just Books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Krugersdorp</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011 912 6732</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4"/>
          <p:cNvSpPr/>
          <p:nvPr/>
        </p:nvSpPr>
        <p:spPr>
          <a:xfrm>
            <a:off x="5147347" y="2416984"/>
            <a:ext cx="800026" cy="421654"/>
          </a:xfrm>
          <a:prstGeom prst="rect">
            <a:avLst/>
          </a:prstGeom>
        </p:spPr>
        <p:txBody>
          <a:bodyPr wrap="none">
            <a:spAutoFit/>
          </a:bodyPr>
          <a:lstStyle/>
          <a:p>
            <a:pPr algn="ctr">
              <a:lnSpc>
                <a:spcPct val="107000"/>
              </a:lnSpc>
              <a:spcAft>
                <a:spcPts val="800"/>
              </a:spcAft>
            </a:pPr>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STAFF</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954015758"/>
              </p:ext>
            </p:extLst>
          </p:nvPr>
        </p:nvGraphicFramePr>
        <p:xfrm>
          <a:off x="1550126" y="2907142"/>
          <a:ext cx="7994468" cy="1369698"/>
        </p:xfrm>
        <a:graphic>
          <a:graphicData uri="http://schemas.openxmlformats.org/drawingml/2006/table">
            <a:tbl>
              <a:tblPr firstRow="1" firstCol="1" bandRow="1"/>
              <a:tblGrid>
                <a:gridCol w="2664527"/>
                <a:gridCol w="2664527"/>
                <a:gridCol w="2665414"/>
              </a:tblGrid>
              <a:tr h="0">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StaffID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Names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b="1">
                          <a:effectLst/>
                          <a:latin typeface="Calibri" panose="020F0502020204030204" pitchFamily="34" charset="0"/>
                          <a:ea typeface="Calibri" panose="020F0502020204030204" pitchFamily="34" charset="0"/>
                          <a:cs typeface="Times New Roman" panose="02020603050405020304" pitchFamily="18" charset="0"/>
                        </a:rPr>
                        <a:t>Email</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5671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Basetsana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basi@gmail.com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5811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Ayanda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aya@gmail.com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2392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Mulaudzi</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mulaudzi@gmail.com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3894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George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geo34@gmail.com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5858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a:effectLst/>
                          <a:latin typeface="Calibri" panose="020F0502020204030204" pitchFamily="34" charset="0"/>
                          <a:ea typeface="Calibri" panose="020F0502020204030204" pitchFamily="34" charset="0"/>
                          <a:cs typeface="Times New Roman" panose="02020603050405020304" pitchFamily="18" charset="0"/>
                        </a:rPr>
                        <a:t>Tshepo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ZA" sz="1400" dirty="0">
                          <a:effectLst/>
                          <a:latin typeface="Calibri" panose="020F0502020204030204" pitchFamily="34" charset="0"/>
                          <a:ea typeface="Calibri" panose="020F0502020204030204" pitchFamily="34" charset="0"/>
                          <a:cs typeface="Times New Roman" panose="02020603050405020304" pitchFamily="18" charset="0"/>
                        </a:rPr>
                        <a:t>tshepo23@gmail.com</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Rectangle 6"/>
          <p:cNvSpPr/>
          <p:nvPr/>
        </p:nvSpPr>
        <p:spPr>
          <a:xfrm>
            <a:off x="2795452" y="4689650"/>
            <a:ext cx="6096000" cy="1233286"/>
          </a:xfrm>
          <a:prstGeom prst="rect">
            <a:avLst/>
          </a:prstGeom>
        </p:spPr>
        <p:txBody>
          <a:bodyPr>
            <a:spAutoFit/>
          </a:bodyPr>
          <a:lstStyle/>
          <a:p>
            <a:pPr>
              <a:lnSpc>
                <a:spcPct val="107000"/>
              </a:lnSpc>
              <a:spcAft>
                <a:spcPts val="0"/>
              </a:spcAft>
            </a:pPr>
            <a:r>
              <a:rPr lang="en-ZA" sz="1400" b="1" dirty="0" smtClean="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The following tables are now in third normal form. This is because there is no transitive dependencies, every attribute depends on only the primary key and not on other non-key attributes. The database is now highly optimised, flexible and free from insertion, update and more.</a:t>
            </a:r>
            <a:endParaRPr lang="en-ZA" sz="11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564041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91542" y="808178"/>
            <a:ext cx="5817326" cy="5423673"/>
          </a:xfrm>
          <a:prstGeom prst="rect">
            <a:avLst/>
          </a:prstGeom>
        </p:spPr>
      </p:pic>
      <p:sp>
        <p:nvSpPr>
          <p:cNvPr id="3" name="Rectangle 2"/>
          <p:cNvSpPr/>
          <p:nvPr/>
        </p:nvSpPr>
        <p:spPr>
          <a:xfrm>
            <a:off x="4013853" y="386524"/>
            <a:ext cx="3659207" cy="421654"/>
          </a:xfrm>
          <a:prstGeom prst="rect">
            <a:avLst/>
          </a:prstGeom>
        </p:spPr>
        <p:txBody>
          <a:bodyPr wrap="none">
            <a:spAutoFit/>
          </a:bodyPr>
          <a:lstStyle/>
          <a:p>
            <a:pPr algn="ctr">
              <a:lnSpc>
                <a:spcPct val="107000"/>
              </a:lnSpc>
              <a:spcAft>
                <a:spcPts val="800"/>
              </a:spcAft>
            </a:pPr>
            <a:r>
              <a:rPr lang="en-ZA" sz="2000" b="1" dirty="0" smtClean="0">
                <a:effectLst/>
                <a:latin typeface="Calibri" panose="020F0502020204030204" pitchFamily="34" charset="0"/>
                <a:ea typeface="Calibri" panose="020F0502020204030204" pitchFamily="34" charset="0"/>
                <a:cs typeface="Times New Roman" panose="02020603050405020304" pitchFamily="18" charset="0"/>
              </a:rPr>
              <a:t>ENTITY RELATIONSHIP DIAGRAM</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93942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931" y="335846"/>
            <a:ext cx="10528663" cy="5632311"/>
          </a:xfrm>
          <a:prstGeom prst="rect">
            <a:avLst/>
          </a:prstGeom>
        </p:spPr>
        <p:txBody>
          <a:bodyPr wrap="square">
            <a:spAutoFit/>
          </a:bodyPr>
          <a:lstStyle/>
          <a:p>
            <a:pPr algn="ctr"/>
            <a:r>
              <a:rPr lang="en-GB" b="1" dirty="0" smtClean="0"/>
              <a:t>Conclusion</a:t>
            </a:r>
            <a:r>
              <a:rPr lang="en-GB" dirty="0" smtClean="0"/>
              <a:t> </a:t>
            </a:r>
          </a:p>
          <a:p>
            <a:r>
              <a:rPr lang="en-GB" dirty="0" smtClean="0"/>
              <a:t/>
            </a:r>
            <a:br>
              <a:rPr lang="en-GB" dirty="0" smtClean="0"/>
            </a:br>
            <a:r>
              <a:rPr lang="en-GB" dirty="0" smtClean="0"/>
              <a:t>The investigation of the current manual Library system shows that operating without  a centralised database creates significant operational inefficiencies. The main problems identified are data duplication, difficulty in finding information, human errors and lack of centralised database.</a:t>
            </a:r>
          </a:p>
          <a:p>
            <a:r>
              <a:rPr lang="en-GB" dirty="0" smtClean="0"/>
              <a:t/>
            </a:r>
            <a:br>
              <a:rPr lang="en-GB" dirty="0" smtClean="0"/>
            </a:br>
            <a:r>
              <a:rPr lang="en-GB" dirty="0" smtClean="0"/>
              <a:t>This is evident in how the library currently works. Member registration is done on paper forms or spreadsheets, which leads to lost or duplicated information. Recording books is manual making it difficult to know how many books are available and where they are. Tracking overdue books requires staff to manually check loan records, which is time consuming. And maintaining records is spread across files making it hard to keep information updated and consistent.</a:t>
            </a:r>
          </a:p>
          <a:p>
            <a:endParaRPr lang="en-GB" dirty="0" smtClean="0"/>
          </a:p>
          <a:p>
            <a:r>
              <a:rPr lang="en-GB" b="0" i="0" dirty="0" smtClean="0">
                <a:solidFill>
                  <a:srgbClr val="222222"/>
                </a:solidFill>
                <a:effectLst/>
                <a:latin typeface="Arial" panose="020B0604020202020204" pitchFamily="34" charset="0"/>
              </a:rPr>
              <a:t>Plus the database solves specific task such as tracking circulation, searching books, managing fines, controlling access and generating reports. </a:t>
            </a:r>
          </a:p>
          <a:p>
            <a:r>
              <a:rPr lang="en-GB" b="0" i="0" dirty="0" smtClean="0">
                <a:solidFill>
                  <a:srgbClr val="222222"/>
                </a:solidFill>
                <a:effectLst/>
                <a:latin typeface="Arial" panose="020B0604020202020204" pitchFamily="34" charset="0"/>
              </a:rPr>
              <a:t/>
            </a:r>
            <a:br>
              <a:rPr lang="en-GB" b="0" i="0" dirty="0" smtClean="0">
                <a:solidFill>
                  <a:srgbClr val="222222"/>
                </a:solidFill>
                <a:effectLst/>
                <a:latin typeface="Arial" panose="020B0604020202020204" pitchFamily="34" charset="0"/>
              </a:rPr>
            </a:br>
            <a:r>
              <a:rPr lang="en-GB" b="0" i="0" dirty="0" smtClean="0">
                <a:solidFill>
                  <a:srgbClr val="222222"/>
                </a:solidFill>
                <a:effectLst/>
                <a:latin typeface="Arial" panose="020B0604020202020204" pitchFamily="34" charset="0"/>
              </a:rPr>
              <a:t>In conclusion moving from manual system to database driven library management system will eliminate duplication and errors, centralise all information, improve efficiency and provide secure and fast access to data for both staff and members.</a:t>
            </a:r>
          </a:p>
          <a:p>
            <a:r>
              <a:rPr lang="en-GB" dirty="0" smtClean="0"/>
              <a:t/>
            </a:r>
            <a:br>
              <a:rPr lang="en-GB" dirty="0" smtClean="0"/>
            </a:br>
            <a:endParaRPr lang="en-ZA" dirty="0"/>
          </a:p>
        </p:txBody>
      </p:sp>
    </p:spTree>
    <p:extLst>
      <p:ext uri="{BB962C8B-B14F-4D97-AF65-F5344CB8AC3E}">
        <p14:creationId xmlns:p14="http://schemas.microsoft.com/office/powerpoint/2010/main" val="22395441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673</TotalTime>
  <Words>1536</Words>
  <Application>Microsoft Office PowerPoint</Application>
  <PresentationFormat>Widescreen</PresentationFormat>
  <Paragraphs>426</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Calibri</vt:lpstr>
      <vt:lpstr>Calibri Light</vt:lpstr>
      <vt:lpstr>Symbol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25</cp:revision>
  <dcterms:created xsi:type="dcterms:W3CDTF">2026-10-29T10:48:53Z</dcterms:created>
  <dcterms:modified xsi:type="dcterms:W3CDTF">2026-10-29T22:02:07Z</dcterms:modified>
</cp:coreProperties>
</file>